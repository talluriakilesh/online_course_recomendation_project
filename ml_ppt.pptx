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474" autoAdjust="0"/>
    <p:restoredTop sz="94610"/>
  </p:normalViewPr>
  <p:slideViewPr>
    <p:cSldViewPr snapToGrid="0" snapToObjects="1">
      <p:cViewPr varScale="1">
        <p:scale>
          <a:sx n="74" d="100"/>
          <a:sy n="74" d="100"/>
        </p:scale>
        <p:origin x="83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One module per team member works well - it also answers the panel question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Be honest about status. Panels reward accurate self-assessment and penalise claims that fall apart under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Adjust week numbers to your academic calendar. Showing a plan for the remaining weeks is what the panel wants to hear at Review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KL UNIVERSITY  •  BACHUPALLY CAMPUS, HYDERABAD</a:t>
            </a:r>
            <a:endParaRPr lang="en-US" dirty="0"/>
          </a:p>
        </p:txBody>
      </p:sp>
      <p:sp>
        <p:nvSpPr>
          <p:cNvPr id="3" name="Text 1"/>
          <p:cNvSpPr txBox="1"/>
          <p:nvPr/>
        </p:nvSpPr>
        <p:spPr>
          <a:xfrm>
            <a:off x="640080" y="814832"/>
            <a:ext cx="10881360" cy="274320"/>
          </a:xfrm>
          <a:prstGeom prst="rect">
            <a:avLst/>
          </a:prstGeom>
          <a:noFill/>
        </p:spPr>
        <p:txBody>
          <a:bodyPr wrap="square" lIns="0" tIns="0" rIns="0" bIns="0" rtlCol="0" anchor="ctr"/>
          <a:lstStyle/>
          <a:p>
            <a:pPr marL="0" indent="0">
              <a:buNone/>
            </a:pPr>
            <a:r>
              <a:rPr lang="en-US" dirty="0">
                <a:solidFill>
                  <a:srgbClr val="AEBBD6"/>
                </a:solidFill>
                <a:latin typeface="Calibri" panose="020F0502020204030204" pitchFamily="34" charset="0"/>
                <a:ea typeface="Calibri" panose="020F0502020204030204" pitchFamily="34" charset="-122"/>
                <a:cs typeface="Calibri" panose="020F0502020204030204" pitchFamily="34" charset="-120"/>
              </a:rPr>
              <a:t>Department of Computer Science &amp; Engineering</a:t>
            </a:r>
            <a:endParaRPr lang="en-US" dirty="0"/>
          </a:p>
        </p:txBody>
      </p:sp>
      <p:sp>
        <p:nvSpPr>
          <p:cNvPr id="4" name="Text 2"/>
          <p:cNvSpPr txBox="1"/>
          <p:nvPr/>
        </p:nvSpPr>
        <p:spPr>
          <a:xfrm>
            <a:off x="640080" y="1554480"/>
            <a:ext cx="10881360" cy="1005840"/>
          </a:xfrm>
          <a:prstGeom prst="rect">
            <a:avLst/>
          </a:prstGeom>
          <a:noFill/>
        </p:spPr>
        <p:txBody>
          <a:bodyPr wrap="square" lIns="0" tIns="0" rIns="0" bIns="0" rtlCol="0" anchor="ctr"/>
          <a:lstStyle/>
          <a:p>
            <a:r>
              <a:rPr lang="en-US" sz="2800" dirty="0">
                <a:solidFill>
                  <a:schemeClr val="bg1"/>
                </a:solidFill>
              </a:rPr>
              <a:t>Online Course Recommendation System</a:t>
            </a:r>
            <a:endParaRPr lang="en-US" sz="2800" dirty="0">
              <a:solidFill>
                <a:schemeClr val="bg1"/>
              </a:solidFill>
            </a:endParaRPr>
          </a:p>
        </p:txBody>
      </p:sp>
      <p:sp>
        <p:nvSpPr>
          <p:cNvPr id="5" name="Text 3"/>
          <p:cNvSpPr txBox="1"/>
          <p:nvPr/>
        </p:nvSpPr>
        <p:spPr>
          <a:xfrm>
            <a:off x="640080" y="2542032"/>
            <a:ext cx="10881360" cy="475488"/>
          </a:xfrm>
          <a:prstGeom prst="rect">
            <a:avLst/>
          </a:prstGeom>
          <a:noFill/>
        </p:spPr>
        <p:txBody>
          <a:bodyPr wrap="square" lIns="0" tIns="0" rIns="0" bIns="0" rtlCol="0" anchor="ctr"/>
          <a:lstStyle/>
          <a:p>
            <a:r>
              <a:rPr lang="en-IN" dirty="0">
                <a:solidFill>
                  <a:schemeClr val="accent4">
                    <a:lumMod val="60000"/>
                    <a:lumOff val="40000"/>
                  </a:schemeClr>
                </a:solidFill>
              </a:rPr>
              <a:t>A content-based recommender helps learners discover relevant courses from their interests, skills and completed subjects.</a:t>
            </a:r>
            <a:endParaRPr lang="en-US" dirty="0">
              <a:solidFill>
                <a:schemeClr val="accent4">
                  <a:lumMod val="60000"/>
                  <a:lumOff val="40000"/>
                </a:schemeClr>
              </a:solidFill>
            </a:endParaRPr>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txBody>
          <a:bodyPr/>
          <a:lstStyle/>
          <a:p>
            <a:endParaRPr lang="en-IN"/>
          </a:p>
        </p:txBody>
      </p:sp>
      <p:sp>
        <p:nvSpPr>
          <p:cNvPr id="7" name="Text 5"/>
          <p:cNvSpPr txBox="1"/>
          <p:nvPr/>
        </p:nvSpPr>
        <p:spPr>
          <a:xfrm>
            <a:off x="868680" y="3364992"/>
            <a:ext cx="5120640" cy="256032"/>
          </a:xfrm>
          <a:prstGeom prst="rect">
            <a:avLst/>
          </a:prstGeom>
          <a:noFill/>
        </p:spPr>
        <p:txBody>
          <a:bodyPr wrap="square" lIns="0" tIns="0" rIns="0" bIns="0" rtlCol="0" anchor="ctr"/>
          <a:lstStyle/>
          <a:p>
            <a:pPr marL="0" indent="0">
              <a:buNone/>
            </a:pPr>
            <a:r>
              <a:rPr lang="en-US"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PRESENTED BY</a:t>
            </a:r>
            <a:endParaRPr lang="en-US" dirty="0"/>
          </a:p>
        </p:txBody>
      </p:sp>
      <p:sp>
        <p:nvSpPr>
          <p:cNvPr id="8" name="Text 6"/>
          <p:cNvSpPr txBox="1"/>
          <p:nvPr/>
        </p:nvSpPr>
        <p:spPr>
          <a:xfrm>
            <a:off x="868680" y="3657600"/>
            <a:ext cx="5120640" cy="1554480"/>
          </a:xfrm>
          <a:prstGeom prst="rect">
            <a:avLst/>
          </a:prstGeom>
          <a:noFill/>
        </p:spPr>
        <p:txBody>
          <a:bodyPr wrap="square" lIns="0" tIns="0" rIns="0" bIns="0" rtlCol="0" anchor="ctr"/>
          <a:lstStyle/>
          <a:p>
            <a:pPr marL="0" indent="0">
              <a:lnSpc>
                <a:spcPts val="2400"/>
              </a:lnSpc>
              <a:buNone/>
            </a:pPr>
            <a:r>
              <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2520030595-S.Sri Sai Pradhyumn
2520030570-T.Akilesh</a:t>
            </a:r>
            <a:endPar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nSpc>
                <a:spcPts val="2400"/>
              </a:lnSpc>
              <a:buNone/>
            </a:pPr>
            <a:r>
              <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rPr>
              <a:t>2520030618-Sri Nityay Varma Manthena</a:t>
            </a:r>
            <a:endParaRPr lang="en-US" dirty="0"/>
          </a:p>
          <a:p>
            <a:pPr marL="0" indent="0">
              <a:lnSpc>
                <a:spcPts val="2400"/>
              </a:lnSpc>
              <a:buNone/>
            </a:pPr>
            <a:endParaRPr lang="en-US" dirty="0"/>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txBody>
          <a:bodyPr/>
          <a:lstStyle/>
          <a:p>
            <a:endParaRPr lang="en-IN"/>
          </a:p>
        </p:txBody>
      </p:sp>
      <p:sp>
        <p:nvSpPr>
          <p:cNvPr id="10" name="Text 8"/>
          <p:cNvSpPr txBox="1"/>
          <p:nvPr/>
        </p:nvSpPr>
        <p:spPr>
          <a:xfrm>
            <a:off x="6720840" y="3364992"/>
            <a:ext cx="4572000" cy="256032"/>
          </a:xfrm>
          <a:prstGeom prst="rect">
            <a:avLst/>
          </a:prstGeom>
          <a:noFill/>
        </p:spPr>
        <p:txBody>
          <a:bodyPr wrap="square" lIns="0" tIns="0" rIns="0" bIns="0" rtlCol="0" anchor="ctr"/>
          <a:lstStyle/>
          <a:p>
            <a:pPr marL="0" indent="0">
              <a:buNone/>
            </a:pPr>
            <a:r>
              <a:rPr lang="en-US"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UNDER THE GUIDANCE OF</a:t>
            </a:r>
            <a:endParaRPr lang="en-US" dirty="0"/>
          </a:p>
        </p:txBody>
      </p:sp>
      <p:sp>
        <p:nvSpPr>
          <p:cNvPr id="11" name="Text 9"/>
          <p:cNvSpPr txBox="1"/>
          <p:nvPr/>
        </p:nvSpPr>
        <p:spPr>
          <a:xfrm>
            <a:off x="6720840" y="3703320"/>
            <a:ext cx="4572000" cy="320040"/>
          </a:xfrm>
          <a:prstGeom prst="rect">
            <a:avLst/>
          </a:prstGeom>
        </p:spPr>
        <p:style>
          <a:lnRef idx="0">
            <a:srgbClr val="FFFFFF"/>
          </a:lnRef>
          <a:fillRef idx="2">
            <a:schemeClr val="accent1"/>
          </a:fillRef>
          <a:effectRef idx="1">
            <a:schemeClr val="accent1"/>
          </a:effectRef>
          <a:fontRef idx="minor">
            <a:schemeClr val="lt1"/>
          </a:fontRef>
        </p:style>
        <p:txBody>
          <a:bodyPr wrap="square" lIns="0" tIns="0" rIns="0" bIns="0" rtlCol="0" anchor="ctr"/>
          <a:lstStyle/>
          <a:p>
            <a:pPr marL="0" indent="0">
              <a:buNone/>
            </a:pPr>
            <a:r>
              <a:rPr lang="en-US" dirty="0"/>
              <a:t>Dr.Raghavendra</a:t>
            </a:r>
            <a:endParaRPr lang="en-US" dirty="0"/>
          </a:p>
        </p:txBody>
      </p:sp>
      <p:sp>
        <p:nvSpPr>
          <p:cNvPr id="12" name="Text 10"/>
          <p:cNvSpPr txBox="1"/>
          <p:nvPr/>
        </p:nvSpPr>
        <p:spPr>
          <a:xfrm>
            <a:off x="6720840" y="4069080"/>
            <a:ext cx="4572000" cy="640080"/>
          </a:xfrm>
          <a:prstGeom prst="rect">
            <a:avLst/>
          </a:prstGeom>
          <a:noFill/>
        </p:spPr>
        <p:txBody>
          <a:bodyPr wrap="square" lIns="0" tIns="0" rIns="0" bIns="0" rtlCol="0" anchor="ctr"/>
          <a:lstStyle/>
          <a:p>
            <a:pPr marL="0" indent="0">
              <a:buNone/>
            </a:pPr>
            <a:r>
              <a:rPr lang="en-US" dirty="0">
                <a:solidFill>
                  <a:srgbClr val="AEBBD6"/>
                </a:solidFill>
                <a:latin typeface="Calibri" panose="020F0502020204030204" pitchFamily="34" charset="0"/>
                <a:ea typeface="Calibri" panose="020F0502020204030204" pitchFamily="34" charset="-122"/>
                <a:cs typeface="Calibri" panose="020F0502020204030204" pitchFamily="34" charset="-120"/>
              </a:rPr>
              <a:t>Designation Department of CSE
KLH Bachupally Campus</a:t>
            </a:r>
            <a:endParaRPr lang="en-US" dirty="0"/>
          </a:p>
          <a:p>
            <a:pPr marL="0" indent="0">
              <a:buNone/>
            </a:pPr>
            <a:endParaRPr lang="en-US" dirty="0"/>
          </a:p>
        </p:txBody>
      </p:sp>
      <p:sp>
        <p:nvSpPr>
          <p:cNvPr id="13" name="Text 11"/>
          <p:cNvSpPr txBox="1"/>
          <p:nvPr/>
        </p:nvSpPr>
        <p:spPr>
          <a:xfrm>
            <a:off x="640080" y="5806440"/>
            <a:ext cx="10881360" cy="274320"/>
          </a:xfrm>
          <a:prstGeom prst="rect">
            <a:avLst/>
          </a:prstGeom>
          <a:noFill/>
        </p:spPr>
        <p:txBody>
          <a:bodyPr wrap="square" lIns="0" tIns="0" rIns="0" bIns="0" rtlCol="0" anchor="ctr"/>
          <a:lstStyle/>
          <a:p>
            <a:pPr marL="0" indent="0">
              <a:buNone/>
            </a:pPr>
            <a:r>
              <a:rPr lang="en-US" dirty="0">
                <a:solidFill>
                  <a:srgbClr val="8C9BBC"/>
                </a:solidFill>
                <a:latin typeface="Calibri" panose="020F0502020204030204" pitchFamily="34" charset="0"/>
                <a:ea typeface="Calibri" panose="020F0502020204030204" pitchFamily="34" charset="-122"/>
                <a:cs typeface="Calibri" panose="020F0502020204030204" pitchFamily="34" charset="-120"/>
              </a:rPr>
              <a:t>B.Tech II Year  |  Minor Project - Review 1  |  Academic Year 2026-27  |  Date: 19-09-2026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AGENDA</a:t>
            </a:r>
            <a:endParaRPr lang="en-US"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b="1" dirty="0">
                <a:solidFill>
                  <a:srgbClr val="1B2A55"/>
                </a:solidFill>
                <a:latin typeface="Cambria" panose="02040503050406030204" pitchFamily="34" charset="0"/>
                <a:ea typeface="Cambria" panose="02040503050406030204" pitchFamily="34" charset="-122"/>
                <a:cs typeface="Cambria" panose="02040503050406030204" pitchFamily="34" charset="-120"/>
              </a:rPr>
              <a:t>Contents</a:t>
            </a:r>
            <a:endParaRPr lang="en-US"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731520" y="1527048"/>
            <a:ext cx="384048" cy="384048"/>
          </a:xfrm>
          <a:prstGeom prst="ellipse">
            <a:avLst/>
          </a:prstGeom>
          <a:solidFill>
            <a:srgbClr val="C8A02C"/>
          </a:solidFill>
        </p:spPr>
        <p:txBody>
          <a:bodyPr/>
          <a:lstStyle/>
          <a:p>
            <a:endParaRPr lang="en-IN"/>
          </a:p>
        </p:txBody>
      </p:sp>
      <p:sp>
        <p:nvSpPr>
          <p:cNvPr id="6" name="Text 4"/>
          <p:cNvSpPr txBox="1"/>
          <p:nvPr/>
        </p:nvSpPr>
        <p:spPr>
          <a:xfrm>
            <a:off x="731520" y="1527048"/>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1</a:t>
            </a:r>
            <a:endParaRPr lang="en-US" dirty="0"/>
          </a:p>
        </p:txBody>
      </p:sp>
      <p:sp>
        <p:nvSpPr>
          <p:cNvPr id="7" name="Text 5"/>
          <p:cNvSpPr txBox="1"/>
          <p:nvPr/>
        </p:nvSpPr>
        <p:spPr>
          <a:xfrm>
            <a:off x="1261872" y="1417320"/>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Introduction &amp; Domain Background</a:t>
            </a:r>
            <a:endParaRPr lang="en-US"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31520" y="2276856"/>
            <a:ext cx="384048" cy="384048"/>
          </a:xfrm>
          <a:prstGeom prst="ellipse">
            <a:avLst/>
          </a:prstGeom>
          <a:solidFill>
            <a:srgbClr val="C8A02C"/>
          </a:solidFill>
        </p:spPr>
        <p:txBody>
          <a:bodyPr/>
          <a:lstStyle/>
          <a:p>
            <a:endParaRPr lang="en-IN"/>
          </a:p>
        </p:txBody>
      </p:sp>
      <p:sp>
        <p:nvSpPr>
          <p:cNvPr id="10" name="Text 8"/>
          <p:cNvSpPr txBox="1"/>
          <p:nvPr/>
        </p:nvSpPr>
        <p:spPr>
          <a:xfrm>
            <a:off x="731520" y="2276856"/>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2</a:t>
            </a:r>
            <a:endParaRPr lang="en-US" dirty="0"/>
          </a:p>
        </p:txBody>
      </p:sp>
      <p:sp>
        <p:nvSpPr>
          <p:cNvPr id="11" name="Text 9"/>
          <p:cNvSpPr txBox="1"/>
          <p:nvPr/>
        </p:nvSpPr>
        <p:spPr>
          <a:xfrm>
            <a:off x="1261872" y="2167128"/>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Problem Statement &amp; Motivation</a:t>
            </a:r>
            <a:endParaRPr lang="en-US"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13" name="Shape 11"/>
          <p:cNvSpPr/>
          <p:nvPr/>
        </p:nvSpPr>
        <p:spPr>
          <a:xfrm>
            <a:off x="731520" y="3026664"/>
            <a:ext cx="384048" cy="384048"/>
          </a:xfrm>
          <a:prstGeom prst="ellipse">
            <a:avLst/>
          </a:prstGeom>
          <a:solidFill>
            <a:srgbClr val="C8A02C"/>
          </a:solidFill>
        </p:spPr>
        <p:txBody>
          <a:bodyPr/>
          <a:lstStyle/>
          <a:p>
            <a:endParaRPr lang="en-IN"/>
          </a:p>
        </p:txBody>
      </p:sp>
      <p:sp>
        <p:nvSpPr>
          <p:cNvPr id="14" name="Text 12"/>
          <p:cNvSpPr txBox="1"/>
          <p:nvPr/>
        </p:nvSpPr>
        <p:spPr>
          <a:xfrm>
            <a:off x="731520" y="3026664"/>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3</a:t>
            </a:r>
            <a:endParaRPr lang="en-US" dirty="0"/>
          </a:p>
        </p:txBody>
      </p:sp>
      <p:sp>
        <p:nvSpPr>
          <p:cNvPr id="15" name="Text 13"/>
          <p:cNvSpPr txBox="1"/>
          <p:nvPr/>
        </p:nvSpPr>
        <p:spPr>
          <a:xfrm>
            <a:off x="1261872" y="2916936"/>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Literature Survey</a:t>
            </a:r>
            <a:endParaRPr lang="en-US"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17" name="Shape 15"/>
          <p:cNvSpPr/>
          <p:nvPr/>
        </p:nvSpPr>
        <p:spPr>
          <a:xfrm>
            <a:off x="731520" y="3776472"/>
            <a:ext cx="384048" cy="384048"/>
          </a:xfrm>
          <a:prstGeom prst="ellipse">
            <a:avLst/>
          </a:prstGeom>
          <a:solidFill>
            <a:srgbClr val="C8A02C"/>
          </a:solidFill>
        </p:spPr>
        <p:txBody>
          <a:bodyPr/>
          <a:lstStyle/>
          <a:p>
            <a:endParaRPr lang="en-IN"/>
          </a:p>
        </p:txBody>
      </p:sp>
      <p:sp>
        <p:nvSpPr>
          <p:cNvPr id="18" name="Text 16"/>
          <p:cNvSpPr txBox="1"/>
          <p:nvPr/>
        </p:nvSpPr>
        <p:spPr>
          <a:xfrm>
            <a:off x="731520" y="3776472"/>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4</a:t>
            </a:r>
            <a:endParaRPr lang="en-US" dirty="0"/>
          </a:p>
        </p:txBody>
      </p:sp>
      <p:sp>
        <p:nvSpPr>
          <p:cNvPr id="19" name="Text 17"/>
          <p:cNvSpPr txBox="1"/>
          <p:nvPr/>
        </p:nvSpPr>
        <p:spPr>
          <a:xfrm>
            <a:off x="1261872" y="3666744"/>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Research Gap Identified</a:t>
            </a:r>
            <a:endParaRPr lang="en-US"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1" name="Shape 19"/>
          <p:cNvSpPr/>
          <p:nvPr/>
        </p:nvSpPr>
        <p:spPr>
          <a:xfrm>
            <a:off x="731520" y="4526280"/>
            <a:ext cx="384048" cy="384048"/>
          </a:xfrm>
          <a:prstGeom prst="ellipse">
            <a:avLst/>
          </a:prstGeom>
          <a:solidFill>
            <a:srgbClr val="C8A02C"/>
          </a:solidFill>
        </p:spPr>
        <p:txBody>
          <a:bodyPr/>
          <a:lstStyle/>
          <a:p>
            <a:endParaRPr lang="en-IN"/>
          </a:p>
        </p:txBody>
      </p:sp>
      <p:sp>
        <p:nvSpPr>
          <p:cNvPr id="22" name="Text 20"/>
          <p:cNvSpPr txBox="1"/>
          <p:nvPr/>
        </p:nvSpPr>
        <p:spPr>
          <a:xfrm>
            <a:off x="731520" y="4526280"/>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5</a:t>
            </a:r>
            <a:endParaRPr lang="en-US" dirty="0"/>
          </a:p>
        </p:txBody>
      </p:sp>
      <p:sp>
        <p:nvSpPr>
          <p:cNvPr id="23" name="Text 21"/>
          <p:cNvSpPr txBox="1"/>
          <p:nvPr/>
        </p:nvSpPr>
        <p:spPr>
          <a:xfrm>
            <a:off x="1261872" y="4416552"/>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Objectives of the Project</a:t>
            </a:r>
            <a:endParaRPr lang="en-US"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5" name="Shape 23"/>
          <p:cNvSpPr/>
          <p:nvPr/>
        </p:nvSpPr>
        <p:spPr>
          <a:xfrm>
            <a:off x="731520" y="5276088"/>
            <a:ext cx="384048" cy="384048"/>
          </a:xfrm>
          <a:prstGeom prst="ellipse">
            <a:avLst/>
          </a:prstGeom>
          <a:solidFill>
            <a:srgbClr val="C8A02C"/>
          </a:solidFill>
        </p:spPr>
        <p:txBody>
          <a:bodyPr/>
          <a:lstStyle/>
          <a:p>
            <a:endParaRPr lang="en-IN"/>
          </a:p>
        </p:txBody>
      </p:sp>
      <p:sp>
        <p:nvSpPr>
          <p:cNvPr id="26" name="Text 24"/>
          <p:cNvSpPr txBox="1"/>
          <p:nvPr/>
        </p:nvSpPr>
        <p:spPr>
          <a:xfrm>
            <a:off x="731520" y="5276088"/>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6</a:t>
            </a:r>
            <a:endParaRPr lang="en-US" dirty="0"/>
          </a:p>
        </p:txBody>
      </p:sp>
      <p:sp>
        <p:nvSpPr>
          <p:cNvPr id="27" name="Text 25"/>
          <p:cNvSpPr txBox="1"/>
          <p:nvPr/>
        </p:nvSpPr>
        <p:spPr>
          <a:xfrm>
            <a:off x="1261872" y="5166360"/>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Proposed System Architecture</a:t>
            </a:r>
            <a:endParaRPr lang="en-US"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9" name="Shape 27"/>
          <p:cNvSpPr/>
          <p:nvPr/>
        </p:nvSpPr>
        <p:spPr>
          <a:xfrm>
            <a:off x="6400800" y="1527048"/>
            <a:ext cx="384048" cy="384048"/>
          </a:xfrm>
          <a:prstGeom prst="ellipse">
            <a:avLst/>
          </a:prstGeom>
          <a:solidFill>
            <a:srgbClr val="C8A02C"/>
          </a:solidFill>
        </p:spPr>
        <p:txBody>
          <a:bodyPr/>
          <a:lstStyle/>
          <a:p>
            <a:endParaRPr lang="en-IN"/>
          </a:p>
        </p:txBody>
      </p:sp>
      <p:sp>
        <p:nvSpPr>
          <p:cNvPr id="30" name="Text 28"/>
          <p:cNvSpPr txBox="1"/>
          <p:nvPr/>
        </p:nvSpPr>
        <p:spPr>
          <a:xfrm>
            <a:off x="6400800" y="1527048"/>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7</a:t>
            </a:r>
            <a:endParaRPr lang="en-US" dirty="0"/>
          </a:p>
        </p:txBody>
      </p:sp>
      <p:sp>
        <p:nvSpPr>
          <p:cNvPr id="31" name="Text 29"/>
          <p:cNvSpPr txBox="1"/>
          <p:nvPr/>
        </p:nvSpPr>
        <p:spPr>
          <a:xfrm>
            <a:off x="6931152" y="1417320"/>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Methodology &amp; Modules</a:t>
            </a:r>
            <a:endParaRPr lang="en-US"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33" name="Shape 31"/>
          <p:cNvSpPr/>
          <p:nvPr/>
        </p:nvSpPr>
        <p:spPr>
          <a:xfrm>
            <a:off x="6400800" y="2276856"/>
            <a:ext cx="384048" cy="384048"/>
          </a:xfrm>
          <a:prstGeom prst="ellipse">
            <a:avLst/>
          </a:prstGeom>
          <a:solidFill>
            <a:srgbClr val="C8A02C"/>
          </a:solidFill>
        </p:spPr>
        <p:txBody>
          <a:bodyPr/>
          <a:lstStyle/>
          <a:p>
            <a:endParaRPr lang="en-IN"/>
          </a:p>
        </p:txBody>
      </p:sp>
      <p:sp>
        <p:nvSpPr>
          <p:cNvPr id="34" name="Text 32"/>
          <p:cNvSpPr txBox="1"/>
          <p:nvPr/>
        </p:nvSpPr>
        <p:spPr>
          <a:xfrm>
            <a:off x="6400800" y="2276856"/>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8</a:t>
            </a:r>
            <a:endParaRPr lang="en-US" dirty="0"/>
          </a:p>
        </p:txBody>
      </p:sp>
      <p:sp>
        <p:nvSpPr>
          <p:cNvPr id="35" name="Text 33"/>
          <p:cNvSpPr txBox="1"/>
          <p:nvPr/>
        </p:nvSpPr>
        <p:spPr>
          <a:xfrm>
            <a:off x="6931152" y="2167128"/>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Tools and Technologies</a:t>
            </a:r>
            <a:endParaRPr lang="en-US"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37" name="Shape 35"/>
          <p:cNvSpPr/>
          <p:nvPr/>
        </p:nvSpPr>
        <p:spPr>
          <a:xfrm>
            <a:off x="6400800" y="3026664"/>
            <a:ext cx="384048" cy="384048"/>
          </a:xfrm>
          <a:prstGeom prst="ellipse">
            <a:avLst/>
          </a:prstGeom>
          <a:solidFill>
            <a:srgbClr val="C8A02C"/>
          </a:solidFill>
        </p:spPr>
        <p:txBody>
          <a:bodyPr/>
          <a:lstStyle/>
          <a:p>
            <a:endParaRPr lang="en-IN"/>
          </a:p>
        </p:txBody>
      </p:sp>
      <p:sp>
        <p:nvSpPr>
          <p:cNvPr id="38" name="Text 36"/>
          <p:cNvSpPr txBox="1"/>
          <p:nvPr/>
        </p:nvSpPr>
        <p:spPr>
          <a:xfrm>
            <a:off x="6400800" y="3026664"/>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9</a:t>
            </a:r>
            <a:endParaRPr lang="en-US" dirty="0"/>
          </a:p>
        </p:txBody>
      </p:sp>
      <p:sp>
        <p:nvSpPr>
          <p:cNvPr id="39" name="Text 37"/>
          <p:cNvSpPr txBox="1"/>
          <p:nvPr/>
        </p:nvSpPr>
        <p:spPr>
          <a:xfrm>
            <a:off x="6931152" y="2916936"/>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Work Completed / Demo</a:t>
            </a:r>
            <a:endParaRPr lang="en-US"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1" name="Shape 39"/>
          <p:cNvSpPr/>
          <p:nvPr/>
        </p:nvSpPr>
        <p:spPr>
          <a:xfrm>
            <a:off x="6400800" y="3776472"/>
            <a:ext cx="384048" cy="384048"/>
          </a:xfrm>
          <a:prstGeom prst="ellipse">
            <a:avLst/>
          </a:prstGeom>
          <a:solidFill>
            <a:srgbClr val="C8A02C"/>
          </a:solidFill>
        </p:spPr>
        <p:txBody>
          <a:bodyPr/>
          <a:lstStyle/>
          <a:p>
            <a:endParaRPr lang="en-IN"/>
          </a:p>
        </p:txBody>
      </p:sp>
      <p:sp>
        <p:nvSpPr>
          <p:cNvPr id="42" name="Text 40"/>
          <p:cNvSpPr txBox="1"/>
          <p:nvPr/>
        </p:nvSpPr>
        <p:spPr>
          <a:xfrm>
            <a:off x="6400800" y="3776472"/>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10</a:t>
            </a:r>
            <a:endParaRPr lang="en-US" dirty="0"/>
          </a:p>
        </p:txBody>
      </p:sp>
      <p:sp>
        <p:nvSpPr>
          <p:cNvPr id="43" name="Text 41"/>
          <p:cNvSpPr txBox="1"/>
          <p:nvPr/>
        </p:nvSpPr>
        <p:spPr>
          <a:xfrm>
            <a:off x="6931152" y="3666744"/>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Timeline &amp; Review Plan</a:t>
            </a:r>
            <a:endParaRPr lang="en-US"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5" name="Shape 43"/>
          <p:cNvSpPr/>
          <p:nvPr/>
        </p:nvSpPr>
        <p:spPr>
          <a:xfrm>
            <a:off x="6400800" y="4526280"/>
            <a:ext cx="384048" cy="384048"/>
          </a:xfrm>
          <a:prstGeom prst="ellipse">
            <a:avLst/>
          </a:prstGeom>
          <a:solidFill>
            <a:srgbClr val="C8A02C"/>
          </a:solidFill>
        </p:spPr>
        <p:txBody>
          <a:bodyPr/>
          <a:lstStyle/>
          <a:p>
            <a:endParaRPr lang="en-IN"/>
          </a:p>
        </p:txBody>
      </p:sp>
      <p:sp>
        <p:nvSpPr>
          <p:cNvPr id="46" name="Text 44"/>
          <p:cNvSpPr txBox="1"/>
          <p:nvPr/>
        </p:nvSpPr>
        <p:spPr>
          <a:xfrm>
            <a:off x="6400800" y="4526280"/>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11</a:t>
            </a:r>
            <a:endParaRPr lang="en-US" dirty="0"/>
          </a:p>
        </p:txBody>
      </p:sp>
      <p:sp>
        <p:nvSpPr>
          <p:cNvPr id="47" name="Text 45"/>
          <p:cNvSpPr txBox="1"/>
          <p:nvPr/>
        </p:nvSpPr>
        <p:spPr>
          <a:xfrm>
            <a:off x="6931152" y="4416552"/>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Expected Outcome &amp; Conclusion</a:t>
            </a:r>
            <a:endParaRPr lang="en-US"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9" name="Shape 47"/>
          <p:cNvSpPr/>
          <p:nvPr/>
        </p:nvSpPr>
        <p:spPr>
          <a:xfrm>
            <a:off x="6400800" y="5276088"/>
            <a:ext cx="384048" cy="384048"/>
          </a:xfrm>
          <a:prstGeom prst="ellipse">
            <a:avLst/>
          </a:prstGeom>
          <a:solidFill>
            <a:srgbClr val="C8A02C"/>
          </a:solidFill>
        </p:spPr>
        <p:txBody>
          <a:bodyPr/>
          <a:lstStyle/>
          <a:p>
            <a:endParaRPr lang="en-IN"/>
          </a:p>
        </p:txBody>
      </p:sp>
      <p:sp>
        <p:nvSpPr>
          <p:cNvPr id="50" name="Text 48"/>
          <p:cNvSpPr txBox="1"/>
          <p:nvPr/>
        </p:nvSpPr>
        <p:spPr>
          <a:xfrm>
            <a:off x="6400800" y="5276088"/>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12</a:t>
            </a:r>
            <a:endParaRPr lang="en-US" dirty="0"/>
          </a:p>
        </p:txBody>
      </p:sp>
      <p:sp>
        <p:nvSpPr>
          <p:cNvPr id="51" name="Text 49"/>
          <p:cNvSpPr txBox="1"/>
          <p:nvPr/>
        </p:nvSpPr>
        <p:spPr>
          <a:xfrm>
            <a:off x="6931152" y="5166360"/>
            <a:ext cx="4526280" cy="603504"/>
          </a:xfrm>
          <a:prstGeom prst="rect">
            <a:avLst/>
          </a:prstGeom>
          <a:noFill/>
        </p:spPr>
        <p:txBody>
          <a:bodyPr wrap="square" lIns="0" tIns="0" rIns="0" bIns="0" rtlCol="0" anchor="ctr"/>
          <a:lstStyle/>
          <a:p>
            <a:pPr marL="0" indent="0">
              <a:buNone/>
            </a:pPr>
            <a:r>
              <a:rPr lang="en-US" dirty="0">
                <a:solidFill>
                  <a:srgbClr val="1F2430"/>
                </a:solidFill>
                <a:latin typeface="Calibri" panose="020F0502020204030204" pitchFamily="34" charset="0"/>
                <a:ea typeface="Calibri" panose="020F0502020204030204" pitchFamily="34" charset="-122"/>
                <a:cs typeface="Calibri" panose="020F0502020204030204" pitchFamily="34" charset="-120"/>
              </a:rPr>
              <a:t>References</a:t>
            </a:r>
            <a:endParaRPr lang="en-US" dirty="0"/>
          </a:p>
        </p:txBody>
      </p:sp>
      <p:sp>
        <p:nvSpPr>
          <p:cNvPr id="52" name="Text 50"/>
          <p:cNvSpPr txBox="1"/>
          <p:nvPr/>
        </p:nvSpPr>
        <p:spPr>
          <a:xfrm>
            <a:off x="548640" y="6355080"/>
            <a:ext cx="6400800" cy="274320"/>
          </a:xfrm>
          <a:prstGeom prst="rect">
            <a:avLst/>
          </a:prstGeom>
          <a:noFill/>
        </p:spPr>
        <p:txBody>
          <a:bodyPr wrap="square" lIns="0" tIns="0" rIns="0" bIns="0" rtlCol="0" anchor="ctr"/>
          <a:lstStyle/>
          <a:p>
            <a:pPr marL="0" indent="0">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dirty="0"/>
          </a:p>
        </p:txBody>
      </p:sp>
      <p:sp>
        <p:nvSpPr>
          <p:cNvPr id="53" name="Text 51"/>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1</a:t>
            </a:r>
            <a:endParaRPr lang="en-US"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b="1" dirty="0">
                <a:solidFill>
                  <a:srgbClr val="1B2A55"/>
                </a:solidFill>
                <a:latin typeface="Cambria" panose="02040503050406030204" pitchFamily="34" charset="0"/>
                <a:ea typeface="Cambria" panose="02040503050406030204" pitchFamily="34" charset="-122"/>
                <a:cs typeface="Cambria" panose="02040503050406030204" pitchFamily="34" charset="-120"/>
              </a:rPr>
              <a:t>Introduction &amp; Domain Background</a:t>
            </a:r>
            <a:endParaRPr lang="en-US"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22960" y="1691640"/>
            <a:ext cx="6035040" cy="3931920"/>
          </a:xfrm>
          <a:prstGeom prst="rect">
            <a:avLst/>
          </a:prstGeom>
          <a:noFill/>
        </p:spPr>
        <p:txBody>
          <a:bodyPr wrap="square" lIns="0" tIns="0" rIns="0" bIns="0" rtlCol="0" anchor="ctr"/>
          <a:lstStyle/>
          <a:p>
            <a:endParaRPr lang="en-IN" b="1" dirty="0"/>
          </a:p>
          <a:p>
            <a:endParaRPr lang="en-IN" b="1" dirty="0"/>
          </a:p>
          <a:p>
            <a:endParaRPr lang="en-IN" b="1" dirty="0"/>
          </a:p>
          <a:p>
            <a:r>
              <a:rPr lang="en-IN" b="1" dirty="0"/>
              <a:t>What is the domain?
Domain: Educational Technology &amp; Recommender Systems
A course recommender suggests learning content that fits a learner’s interests, skills and previous learning.
Why is it relevant today?
Online learning platforms offer many courses, making it difficult to choose the most relevant next course.
Where does your project sit?
Our web application ranks courses using TF-IDF text features and cosine similarity, then explains why each course matches the learner profile.</a:t>
            </a:r>
            <a:endParaRPr lang="en-IN" dirty="0"/>
          </a:p>
          <a:p/>
          <a:p/>
          <a:p>
            <a:endParaRPr lang="en-IN" dirty="0"/>
          </a:p>
          <a:p/>
          <a:p>
            <a:endParaRPr lang="en-IN" dirty="0"/>
          </a:p>
          <a:p>
            <a:endParaRPr lang="en-IN" dirty="0"/>
          </a:p>
        </p:txBody>
      </p:sp>
      <p:sp>
        <p:nvSpPr>
          <p:cNvPr id="6" name="Shape 4"/>
          <p:cNvSpPr/>
          <p:nvPr/>
        </p:nvSpPr>
        <p:spPr>
          <a:xfrm>
            <a:off x="7406640" y="1417320"/>
            <a:ext cx="4206240" cy="2834640"/>
          </a:xfrm>
          <a:prstGeom prst="roundRect">
            <a:avLst>
              <a:gd name="adj" fmla="val 2581"/>
            </a:avLst>
          </a:prstGeom>
          <a:solidFill>
            <a:srgbClr val="FFFFFF"/>
          </a:solidFill>
          <a:ln w="12700">
            <a:solidFill>
              <a:srgbClr val="9AA5B8"/>
            </a:solidFill>
            <a:prstDash val="dash"/>
          </a:ln>
        </p:spPr>
        <p:txBody>
          <a:bodyPr/>
          <a:lstStyle/>
          <a:p>
            <a:endParaRPr lang="en-IN"/>
          </a:p>
        </p:txBody>
      </p:sp>
      <p:sp>
        <p:nvSpPr>
          <p:cNvPr id="7" name="Text 5"/>
          <p:cNvSpPr txBox="1"/>
          <p:nvPr/>
        </p:nvSpPr>
        <p:spPr>
          <a:xfrm>
            <a:off x="7543800" y="1307592"/>
            <a:ext cx="3931920" cy="2944368"/>
          </a:xfrm>
          <a:prstGeom prst="rect">
            <a:avLst/>
          </a:prstGeom>
          <a:noFill/>
        </p:spPr>
        <p:txBody>
          <a:bodyPr wrap="square" lIns="0" tIns="0" rIns="0" bIns="0" rtlCol="0" anchor="ctr"/>
          <a:lstStyle/>
          <a:p>
            <a:pPr marL="0" indent="0" algn="ct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LEARNER PROFILE
Interests • Skills • Completed Subjects
↓
CONTENT MATCHING
TF-IDF + Cosine Similarity
↓
RANKED COURSE SUGGESTIONS</a:t>
            </a:r>
            <a:endParaRPr lang="en-US" dirty="0"/>
          </a:p>
          <a:p>
            <a:pPr marL="0" indent="0" algn="ctr">
              <a:buNone/>
            </a:pPr>
            <a:endParaRPr lang="en-US" dirty="0"/>
          </a:p>
        </p:txBody>
      </p:sp>
      <p:sp>
        <p:nvSpPr>
          <p:cNvPr id="8" name="Shape 6"/>
          <p:cNvSpPr/>
          <p:nvPr/>
        </p:nvSpPr>
        <p:spPr>
          <a:xfrm>
            <a:off x="7406640" y="4336305"/>
            <a:ext cx="4376444" cy="2208749"/>
          </a:xfrm>
          <a:prstGeom prst="roundRect">
            <a:avLst>
              <a:gd name="adj" fmla="val 5000"/>
            </a:avLst>
          </a:prstGeom>
          <a:solidFill>
            <a:srgbClr val="FDF6E6"/>
          </a:solidFill>
          <a:ln w="12700">
            <a:solidFill>
              <a:srgbClr val="DDE3EC"/>
            </a:solidFill>
            <a:prstDash val="solid"/>
          </a:ln>
        </p:spPr>
        <p:txBody>
          <a:bodyPr/>
          <a:lstStyle/>
          <a:p>
            <a:endParaRPr lang="en-IN"/>
          </a:p>
        </p:txBody>
      </p:sp>
      <p:sp>
        <p:nvSpPr>
          <p:cNvPr id="9" name="Text 7"/>
          <p:cNvSpPr txBox="1"/>
          <p:nvPr/>
        </p:nvSpPr>
        <p:spPr>
          <a:xfrm>
            <a:off x="7635240" y="4572000"/>
            <a:ext cx="3749040" cy="256032"/>
          </a:xfrm>
          <a:prstGeom prst="rect">
            <a:avLst/>
          </a:prstGeom>
          <a:noFill/>
        </p:spPr>
        <p:txBody>
          <a:bodyPr wrap="square" lIns="0" tIns="0" rIns="0" bIns="0" rtlCol="0" anchor="ctr"/>
          <a:lstStyle/>
          <a:p>
            <a:pPr marL="0" indent="0">
              <a:buNone/>
            </a:pPr>
            <a:r>
              <a:rPr lang="en-US" b="1" kern="0" spc="150" dirty="0">
                <a:solidFill>
                  <a:srgbClr val="A4161A"/>
                </a:solidFill>
                <a:latin typeface="Calibri" panose="020F0502020204030204" pitchFamily="34" charset="0"/>
                <a:ea typeface="Calibri" panose="020F0502020204030204" pitchFamily="34" charset="-122"/>
                <a:cs typeface="Calibri" panose="020F0502020204030204" pitchFamily="34" charset="-120"/>
              </a:rPr>
              <a:t>PROJECT SUMMARY</a:t>
            </a:r>
            <a:endParaRPr lang="en-US" dirty="0"/>
          </a:p>
        </p:txBody>
      </p:sp>
      <p:sp>
        <p:nvSpPr>
          <p:cNvPr id="10" name="Text 8"/>
          <p:cNvSpPr txBox="1"/>
          <p:nvPr/>
        </p:nvSpPr>
        <p:spPr>
          <a:xfrm>
            <a:off x="7635240" y="5084064"/>
            <a:ext cx="3749040" cy="649224"/>
          </a:xfrm>
          <a:prstGeom prst="rect">
            <a:avLst/>
          </a:prstGeom>
          <a:noFill/>
        </p:spPr>
        <p:txBody>
          <a:bodyPr wrap="square" lIns="0" tIns="0" rIns="0" bIns="0" rtlCol="0" anchor="ctr"/>
          <a:lstStyle/>
          <a:p>
            <a:br>
              <a:rPr lang="en-IN" dirty="0"/>
            </a:br>
            <a:r>
              <a:rPr lang="en-IN" dirty="0"/>
              <a:t>Our project combines a Python Flask backend, a simple web interface and content-based ranking to provide understandable course recommendations.</a:t>
            </a:r>
            <a:endParaRPr lang="en-IN" dirty="0"/>
          </a:p>
        </p:txBody>
      </p:sp>
      <p:sp>
        <p:nvSpPr>
          <p:cNvPr id="11" name="Text 9"/>
          <p:cNvSpPr txBox="1"/>
          <p:nvPr/>
        </p:nvSpPr>
        <p:spPr>
          <a:xfrm>
            <a:off x="548640" y="6355080"/>
            <a:ext cx="6400800" cy="274320"/>
          </a:xfrm>
          <a:prstGeom prst="rect">
            <a:avLst/>
          </a:prstGeom>
          <a:noFill/>
        </p:spPr>
        <p:txBody>
          <a:bodyPr wrap="square" lIns="0" tIns="0" rIns="0" bIns="0" rtlCol="0" anchor="ctr"/>
          <a:lstStyle/>
          <a:p>
            <a:pPr marL="0" indent="0">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dirty="0"/>
          </a:p>
        </p:txBody>
      </p:sp>
      <p:sp>
        <p:nvSpPr>
          <p:cNvPr id="12" name="Text 10"/>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3</a:t>
            </a:r>
            <a:endParaRPr lang="en-US" dirty="0"/>
          </a:p>
        </p:txBody>
      </p:sp>
      <p:pic>
        <p:nvPicPr>
          <p:cNvPr id="13" name="Picture 12"/>
          <p:cNvPicPr/>
          <p:nvPr/>
        </p:nvPicPr>
        <p:blipFill>
          <a:blip r:embed="rId1"/>
          <a:stretch>
            <a:fillRect/>
          </a:stretch>
        </p:blipFill>
        <p:spPr>
          <a:xfrm>
            <a:off x="7406005" y="1407795"/>
            <a:ext cx="4206240" cy="28390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2</a:t>
            </a:r>
            <a:endParaRPr lang="en-US"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b="1" dirty="0">
                <a:solidFill>
                  <a:srgbClr val="1B2A55"/>
                </a:solidFill>
                <a:latin typeface="Cambria" panose="02040503050406030204" pitchFamily="34" charset="0"/>
                <a:ea typeface="Cambria" panose="02040503050406030204" pitchFamily="34" charset="-122"/>
                <a:cs typeface="Cambria" panose="02040503050406030204" pitchFamily="34" charset="-120"/>
              </a:rPr>
              <a:t>Problem Statement &amp; Motivation</a:t>
            </a:r>
            <a:endParaRPr lang="en-US"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txBody>
          <a:bodyPr/>
          <a:lstStyle/>
          <a:p>
            <a:endParaRPr lang="en-IN"/>
          </a:p>
        </p:txBody>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txBody>
          <a:bodyPr/>
          <a:lstStyle/>
          <a:p>
            <a:endParaRPr lang="en-IN"/>
          </a:p>
        </p:txBody>
      </p:sp>
      <p:sp>
        <p:nvSpPr>
          <p:cNvPr id="6" name="Text 4"/>
          <p:cNvSpPr txBox="1"/>
          <p:nvPr/>
        </p:nvSpPr>
        <p:spPr>
          <a:xfrm>
            <a:off x="914400" y="1627632"/>
            <a:ext cx="10424160" cy="256032"/>
          </a:xfrm>
          <a:prstGeom prst="rect">
            <a:avLst/>
          </a:prstGeom>
          <a:noFill/>
        </p:spPr>
        <p:txBody>
          <a:bodyPr wrap="square" lIns="0" tIns="0" rIns="0" bIns="0" rtlCol="0" anchor="ctr"/>
          <a:lstStyle/>
          <a:p>
            <a:pPr marL="0" indent="0">
              <a:buNone/>
            </a:pPr>
            <a:r>
              <a:rPr lang="en-US" b="1" kern="0" spc="200" dirty="0">
                <a:solidFill>
                  <a:srgbClr val="A4161A"/>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dirty="0"/>
          </a:p>
        </p:txBody>
      </p:sp>
      <p:sp>
        <p:nvSpPr>
          <p:cNvPr id="7" name="Text 5"/>
          <p:cNvSpPr txBox="1"/>
          <p:nvPr/>
        </p:nvSpPr>
        <p:spPr>
          <a:xfrm>
            <a:off x="914400" y="1920240"/>
            <a:ext cx="10424160" cy="914400"/>
          </a:xfrm>
          <a:prstGeom prst="rect">
            <a:avLst/>
          </a:prstGeom>
          <a:noFill/>
        </p:spPr>
        <p:txBody>
          <a:bodyPr wrap="square" lIns="0" tIns="0" rIns="0" bIns="0" rtlCol="0" anchor="ctr"/>
          <a:lstStyle/>
          <a:p>
            <a:r>
              <a:rPr lang="en-IN" dirty="0"/>
              <a:t>Learners often face information overload when choosing from a large number of online courses, and generic recommendations may not reflect their skills or learning history.</a:t>
            </a:r>
            <a:endParaRPr lang="en-IN" dirty="0"/>
          </a:p>
          <a:p>
            <a:endParaRPr lang="en-US" dirty="0"/>
          </a:p>
        </p:txBody>
      </p:sp>
      <p:sp>
        <p:nvSpPr>
          <p:cNvPr id="8" name="Shape 6"/>
          <p:cNvSpPr/>
          <p:nvPr/>
        </p:nvSpPr>
        <p:spPr>
          <a:xfrm>
            <a:off x="548640" y="3291839"/>
            <a:ext cx="3520440" cy="2791719"/>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77240" y="3520440"/>
            <a:ext cx="384048" cy="384048"/>
          </a:xfrm>
          <a:prstGeom prst="ellipse">
            <a:avLst/>
          </a:prstGeom>
          <a:solidFill>
            <a:srgbClr val="C8A02C"/>
          </a:solidFill>
        </p:spPr>
        <p:txBody>
          <a:bodyPr/>
          <a:lstStyle/>
          <a:p>
            <a:endParaRPr lang="en-IN"/>
          </a:p>
        </p:txBody>
      </p:sp>
      <p:sp>
        <p:nvSpPr>
          <p:cNvPr id="10" name="Text 8"/>
          <p:cNvSpPr txBox="1"/>
          <p:nvPr/>
        </p:nvSpPr>
        <p:spPr>
          <a:xfrm>
            <a:off x="777240" y="3520440"/>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1</a:t>
            </a:r>
            <a:endParaRPr lang="en-US" dirty="0"/>
          </a:p>
        </p:txBody>
      </p:sp>
      <p:sp>
        <p:nvSpPr>
          <p:cNvPr id="11" name="Text 9"/>
          <p:cNvSpPr txBox="1"/>
          <p:nvPr/>
        </p:nvSpPr>
        <p:spPr>
          <a:xfrm>
            <a:off x="777240" y="3840480"/>
            <a:ext cx="3063240" cy="457200"/>
          </a:xfrm>
          <a:prstGeom prst="rect">
            <a:avLst/>
          </a:prstGeom>
          <a:noFill/>
        </p:spPr>
        <p:txBody>
          <a:bodyPr wrap="square" lIns="0" tIns="0" rIns="0" bIns="0" rtlCol="0" anchor="ctr"/>
          <a:lstStyle/>
          <a:p>
            <a:pPr marL="0" indent="0">
              <a:buNone/>
            </a:pPr>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Who is affected?</a:t>
            </a:r>
            <a:endParaRPr lang="en-US" dirty="0"/>
          </a:p>
        </p:txBody>
      </p:sp>
      <p:sp>
        <p:nvSpPr>
          <p:cNvPr id="12" name="Text 10"/>
          <p:cNvSpPr txBox="1"/>
          <p:nvPr/>
        </p:nvSpPr>
        <p:spPr>
          <a:xfrm>
            <a:off x="777240" y="4526280"/>
            <a:ext cx="3063240" cy="1234440"/>
          </a:xfrm>
          <a:prstGeom prst="rect">
            <a:avLst/>
          </a:prstGeom>
          <a:noFill/>
        </p:spPr>
        <p:txBody>
          <a:bodyPr wrap="square" lIns="0" tIns="0" rIns="0" bIns="0" rtlCol="0" anchor="ctr"/>
          <a:lstStyle/>
          <a:p>
            <a:r>
              <a:rPr lang="en-IN" dirty="0"/>
              <a:t>Students and lifelong learners may waste time selecting courses that do not match their goals or current skill level.</a:t>
            </a:r>
            <a:endParaRPr lang="en-US" dirty="0"/>
          </a:p>
        </p:txBody>
      </p:sp>
      <p:sp>
        <p:nvSpPr>
          <p:cNvPr id="13" name="Shape 11"/>
          <p:cNvSpPr/>
          <p:nvPr/>
        </p:nvSpPr>
        <p:spPr>
          <a:xfrm>
            <a:off x="4297680" y="3291840"/>
            <a:ext cx="3520440" cy="2791718"/>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14" name="Shape 12"/>
          <p:cNvSpPr/>
          <p:nvPr/>
        </p:nvSpPr>
        <p:spPr>
          <a:xfrm>
            <a:off x="4526280" y="3520440"/>
            <a:ext cx="384048" cy="384048"/>
          </a:xfrm>
          <a:prstGeom prst="ellipse">
            <a:avLst/>
          </a:prstGeom>
          <a:solidFill>
            <a:srgbClr val="C8A02C"/>
          </a:solidFill>
        </p:spPr>
        <p:txBody>
          <a:bodyPr/>
          <a:lstStyle/>
          <a:p>
            <a:endParaRPr lang="en-IN"/>
          </a:p>
        </p:txBody>
      </p:sp>
      <p:sp>
        <p:nvSpPr>
          <p:cNvPr id="15" name="Text 13"/>
          <p:cNvSpPr txBox="1"/>
          <p:nvPr/>
        </p:nvSpPr>
        <p:spPr>
          <a:xfrm>
            <a:off x="4526280" y="3520440"/>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2</a:t>
            </a:r>
            <a:endParaRPr lang="en-US" dirty="0"/>
          </a:p>
        </p:txBody>
      </p:sp>
      <p:sp>
        <p:nvSpPr>
          <p:cNvPr id="16" name="Text 14"/>
          <p:cNvSpPr txBox="1"/>
          <p:nvPr/>
        </p:nvSpPr>
        <p:spPr>
          <a:xfrm>
            <a:off x="4526280" y="3897024"/>
            <a:ext cx="3291840" cy="457200"/>
          </a:xfrm>
          <a:prstGeom prst="rect">
            <a:avLst/>
          </a:prstGeom>
          <a:noFill/>
        </p:spPr>
        <p:txBody>
          <a:bodyPr wrap="square" lIns="0" tIns="0" rIns="0" bIns="0" rtlCol="0" anchor="ctr"/>
          <a:lstStyle/>
          <a:p>
            <a:pPr marL="0" indent="0">
              <a:buNone/>
            </a:pPr>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What is the cost of the problem?</a:t>
            </a:r>
            <a:endParaRPr lang="en-US" dirty="0"/>
          </a:p>
        </p:txBody>
      </p:sp>
      <p:sp>
        <p:nvSpPr>
          <p:cNvPr id="17" name="Text 15"/>
          <p:cNvSpPr txBox="1"/>
          <p:nvPr/>
        </p:nvSpPr>
        <p:spPr>
          <a:xfrm>
            <a:off x="4526280" y="4281072"/>
            <a:ext cx="3063240" cy="1234440"/>
          </a:xfrm>
          <a:prstGeom prst="rect">
            <a:avLst/>
          </a:prstGeom>
          <a:noFill/>
        </p:spPr>
        <p:txBody>
          <a:bodyPr wrap="square" lIns="0" tIns="0" rIns="0" bIns="0" rtlCol="0" anchor="ctr"/>
          <a:lstStyle/>
          <a:p>
            <a:r>
              <a:rPr lang="en-IN" dirty="0"/>
              <a:t>Poor course choices can lead to duplicated learning, missing prerequisites and reduced motivation.</a:t>
            </a:r>
            <a:endParaRPr lang="en-IN" dirty="0"/>
          </a:p>
        </p:txBody>
      </p:sp>
      <p:sp>
        <p:nvSpPr>
          <p:cNvPr id="18" name="Shape 16"/>
          <p:cNvSpPr/>
          <p:nvPr/>
        </p:nvSpPr>
        <p:spPr>
          <a:xfrm>
            <a:off x="8046720" y="3291840"/>
            <a:ext cx="3520440" cy="2791718"/>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19" name="Shape 17"/>
          <p:cNvSpPr/>
          <p:nvPr/>
        </p:nvSpPr>
        <p:spPr>
          <a:xfrm>
            <a:off x="8275320" y="3520440"/>
            <a:ext cx="384048" cy="384048"/>
          </a:xfrm>
          <a:prstGeom prst="ellipse">
            <a:avLst/>
          </a:prstGeom>
          <a:solidFill>
            <a:srgbClr val="C8A02C"/>
          </a:solidFill>
        </p:spPr>
        <p:txBody>
          <a:bodyPr/>
          <a:lstStyle/>
          <a:p>
            <a:endParaRPr lang="en-IN"/>
          </a:p>
        </p:txBody>
      </p:sp>
      <p:sp>
        <p:nvSpPr>
          <p:cNvPr id="20" name="Text 18"/>
          <p:cNvSpPr txBox="1"/>
          <p:nvPr/>
        </p:nvSpPr>
        <p:spPr>
          <a:xfrm>
            <a:off x="8275320" y="3520440"/>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3</a:t>
            </a:r>
            <a:endParaRPr lang="en-US" dirty="0"/>
          </a:p>
        </p:txBody>
      </p:sp>
      <p:sp>
        <p:nvSpPr>
          <p:cNvPr id="21" name="Text 19"/>
          <p:cNvSpPr txBox="1"/>
          <p:nvPr/>
        </p:nvSpPr>
        <p:spPr>
          <a:xfrm>
            <a:off x="8275320" y="3896464"/>
            <a:ext cx="3063240" cy="457200"/>
          </a:xfrm>
          <a:prstGeom prst="rect">
            <a:avLst/>
          </a:prstGeom>
          <a:noFill/>
        </p:spPr>
        <p:txBody>
          <a:bodyPr wrap="square" lIns="0" tIns="0" rIns="0" bIns="0" rtlCol="0" anchor="ctr"/>
          <a:lstStyle/>
          <a:p>
            <a:pPr marL="0" indent="0">
              <a:buNone/>
            </a:pPr>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Why solve it now?</a:t>
            </a:r>
            <a:endParaRPr lang="en-US" dirty="0"/>
          </a:p>
        </p:txBody>
      </p:sp>
      <p:sp>
        <p:nvSpPr>
          <p:cNvPr id="22" name="Text 20"/>
          <p:cNvSpPr txBox="1"/>
          <p:nvPr/>
        </p:nvSpPr>
        <p:spPr>
          <a:xfrm>
            <a:off x="8275320" y="4354224"/>
            <a:ext cx="3063240" cy="1234440"/>
          </a:xfrm>
          <a:prstGeom prst="rect">
            <a:avLst/>
          </a:prstGeom>
          <a:noFill/>
        </p:spPr>
        <p:txBody>
          <a:bodyPr wrap="square" lIns="0" tIns="0" rIns="0" bIns="0" rtlCol="0" anchor="ctr"/>
          <a:lstStyle/>
          <a:p>
            <a:r>
              <a:rPr lang="en-IN" dirty="0"/>
              <a:t>Online course libraries continue to grow, so personalized, explainable recommendations can help learners choose a useful next step.</a:t>
            </a:r>
            <a:endParaRPr lang="en-US" dirty="0"/>
          </a:p>
        </p:txBody>
      </p:sp>
      <p:sp>
        <p:nvSpPr>
          <p:cNvPr id="23" name="Text 21"/>
          <p:cNvSpPr txBox="1"/>
          <p:nvPr/>
        </p:nvSpPr>
        <p:spPr>
          <a:xfrm>
            <a:off x="548640" y="6355080"/>
            <a:ext cx="6400800" cy="274320"/>
          </a:xfrm>
          <a:prstGeom prst="rect">
            <a:avLst/>
          </a:prstGeom>
          <a:noFill/>
        </p:spPr>
        <p:txBody>
          <a:bodyPr wrap="square" lIns="0" tIns="0" rIns="0" bIns="0" rtlCol="0" anchor="ctr"/>
          <a:lstStyle/>
          <a:p>
            <a:pPr marL="0" indent="0">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dirty="0"/>
          </a:p>
        </p:txBody>
      </p:sp>
      <p:sp>
        <p:nvSpPr>
          <p:cNvPr id="24" name="Text 22"/>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4</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3</a:t>
            </a:r>
            <a:endParaRPr lang="en-US"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b="1" dirty="0">
                <a:solidFill>
                  <a:srgbClr val="1B2A55"/>
                </a:solidFill>
                <a:latin typeface="Cambria" panose="02040503050406030204" pitchFamily="34" charset="0"/>
                <a:ea typeface="Cambria" panose="02040503050406030204" pitchFamily="34" charset="-122"/>
                <a:cs typeface="Cambria" panose="02040503050406030204" pitchFamily="34" charset="-120"/>
              </a:rPr>
              <a:t>Literature Survey</a:t>
            </a:r>
            <a:endParaRPr lang="en-US" dirty="0"/>
          </a:p>
        </p:txBody>
      </p:sp>
      <p:sp>
        <p:nvSpPr>
          <p:cNvPr id="4" name="Text 2"/>
          <p:cNvSpPr txBox="1"/>
          <p:nvPr/>
        </p:nvSpPr>
        <p:spPr>
          <a:xfrm>
            <a:off x="548640" y="1188720"/>
            <a:ext cx="11064240" cy="274320"/>
          </a:xfrm>
          <a:prstGeom prst="rect">
            <a:avLst/>
          </a:prstGeom>
          <a:noFill/>
        </p:spPr>
        <p:txBody>
          <a:bodyPr wrap="square" lIns="0" tIns="0" rIns="0" bIns="0" rtlCol="0" anchor="ctr"/>
          <a:lstStyle/>
          <a:p>
            <a:pPr marL="0" indent="0">
              <a:buNone/>
            </a:pPr>
            <a:endParaRPr lang="en-US" dirty="0"/>
          </a:p>
        </p:txBody>
      </p:sp>
      <p:graphicFrame>
        <p:nvGraphicFramePr>
          <p:cNvPr id="6" name="Table 0"/>
          <p:cNvGraphicFramePr>
            <a:graphicFrameLocks noGrp="1"/>
          </p:cNvGraphicFramePr>
          <p:nvPr/>
        </p:nvGraphicFramePr>
        <p:xfrm>
          <a:off x="1615440" y="1170432"/>
          <a:ext cx="9910972" cy="4297680"/>
        </p:xfrm>
        <a:graphic>
          <a:graphicData uri="http://schemas.openxmlformats.org/drawingml/2006/table">
            <a:tbl>
              <a:tblPr/>
              <a:tblGrid>
                <a:gridCol w="438497"/>
                <a:gridCol w="1400279"/>
                <a:gridCol w="2471079"/>
                <a:gridCol w="1565018"/>
                <a:gridCol w="2059234"/>
                <a:gridCol w="1976865"/>
              </a:tblGrid>
              <a:tr h="444974">
                <a:tc>
                  <a:txBody>
                    <a:bodyPr/>
                    <a:lstStyle/>
                    <a:p>
                      <a:r>
                        <a:rPr sz="1800" b="1">
                          <a:latin typeface="Calibri" panose="020F0502020204030204"/>
                        </a:rPr>
                        <a:t>S.No</a:t>
                      </a:r>
                      <a:endParaRPr sz="1800" b="1">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800" b="1">
                          <a:latin typeface="Calibri" panose="020F0502020204030204"/>
                        </a:rPr>
                        <a:t>Author &amp; Year</a:t>
                      </a:r>
                      <a:endParaRPr sz="1800" b="1">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800" b="1">
                          <a:latin typeface="Calibri" panose="020F0502020204030204"/>
                        </a:rPr>
                        <a:t>Title / Technique Used</a:t>
                      </a:r>
                      <a:endParaRPr sz="1800" b="1">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800" b="1">
                          <a:latin typeface="Calibri" panose="020F0502020204030204"/>
                        </a:rPr>
                        <a:t>Dataset / Tools</a:t>
                      </a:r>
                      <a:endParaRPr sz="1800" b="1">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800" b="1">
                          <a:latin typeface="Calibri" panose="020F0502020204030204"/>
                        </a:rPr>
                        <a:t>Key Findings</a:t>
                      </a:r>
                      <a:endParaRPr sz="1800" b="1">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sz="1800" b="1">
                          <a:latin typeface="Calibri" panose="020F0502020204030204"/>
                        </a:rPr>
                        <a:t>Limitation / Gap</a:t>
                      </a:r>
                      <a:endParaRPr sz="1800" b="1">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1315575">
                <a:tc>
                  <a:txBody>
                    <a:bodyPr/>
                    <a:lstStyle/>
                    <a:p>
                      <a:r>
                        <a:rPr sz="1800">
                          <a:latin typeface="Calibri" panose="020F0502020204030204"/>
                        </a:rPr>
                        <a:t>1</a:t>
                      </a:r>
                      <a:endParaRPr sz="1800">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Pazzani &amp; Billsus (2007)</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Content-Based Recommendation Systems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User profile + item descriptions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Content features can recommend items similar to a user profile.</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Needs informative item descriptions; may over-specialize.</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1489695">
                <a:tc>
                  <a:txBody>
                    <a:bodyPr/>
                    <a:lstStyle/>
                    <a:p>
                      <a:r>
                        <a:rPr sz="1800">
                          <a:latin typeface="Calibri" panose="020F0502020204030204"/>
                        </a:rPr>
                        <a:t>2</a:t>
                      </a:r>
                      <a:endParaRPr sz="1800">
                        <a:latin typeface="Calibri" panose="020F0502020204030204"/>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Salton &amp; Buckley (1988)</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rPr b="0"/>
                        <a:t>Term-Weighting Approaches in Automatic Text Retrieval</a:t>
                      </a:r>
                      <a:endParaRPr b="0"/>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Text documents; term weighting / TF-IDF foundations</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Weighted terms help represent and retrieve relevant text.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r>
                        <a:t>Text overlap alone may miss deeper meaning or context.</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bl>
          </a:graphicData>
        </a:graphic>
      </p:graphicFrame>
      <p:sp>
        <p:nvSpPr>
          <p:cNvPr id="5" name="Text 3"/>
          <p:cNvSpPr txBox="1"/>
          <p:nvPr/>
        </p:nvSpPr>
        <p:spPr>
          <a:xfrm>
            <a:off x="563880" y="5764452"/>
            <a:ext cx="11064240" cy="320040"/>
          </a:xfrm>
          <a:prstGeom prst="rect">
            <a:avLst/>
          </a:prstGeom>
          <a:noFill/>
        </p:spPr>
        <p:txBody>
          <a:bodyPr wrap="square" lIns="0" tIns="0" rIns="0" bIns="0" rtlCol="0" anchor="ctr"/>
          <a:lstStyle/>
          <a:p>
            <a:endParaRPr lang="en-US" i="1" dirty="0">
              <a:solidFill>
                <a:srgbClr val="FF0000"/>
              </a:solidFill>
            </a:endParaRPr>
          </a:p>
        </p:txBody>
      </p:sp>
      <p:sp>
        <p:nvSpPr>
          <p:cNvPr id="7" name="Text 4"/>
          <p:cNvSpPr txBox="1"/>
          <p:nvPr/>
        </p:nvSpPr>
        <p:spPr>
          <a:xfrm>
            <a:off x="548640" y="6355080"/>
            <a:ext cx="6400800" cy="274320"/>
          </a:xfrm>
          <a:prstGeom prst="rect">
            <a:avLst/>
          </a:prstGeom>
          <a:noFill/>
        </p:spPr>
        <p:txBody>
          <a:bodyPr wrap="square" lIns="0" tIns="0" rIns="0" bIns="0" rtlCol="0" anchor="ctr"/>
          <a:lstStyle/>
          <a:p>
            <a:pPr marL="0" indent="0">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dirty="0"/>
          </a:p>
        </p:txBody>
      </p:sp>
      <p:sp>
        <p:nvSpPr>
          <p:cNvPr id="8" name="Text 5"/>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5</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4</a:t>
            </a:r>
            <a:endParaRPr lang="en-US"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b="1" dirty="0">
                <a:solidFill>
                  <a:srgbClr val="1B2A55"/>
                </a:solidFill>
                <a:latin typeface="Cambria" panose="02040503050406030204" pitchFamily="34" charset="0"/>
                <a:ea typeface="Cambria" panose="02040503050406030204" pitchFamily="34" charset="-122"/>
                <a:cs typeface="Cambria" panose="02040503050406030204" pitchFamily="34" charset="-120"/>
              </a:rPr>
              <a:t>Research Gap Identified</a:t>
            </a:r>
            <a:endParaRPr lang="en-US" dirty="0"/>
          </a:p>
        </p:txBody>
      </p:sp>
      <p:sp>
        <p:nvSpPr>
          <p:cNvPr id="4" name="Shape 2"/>
          <p:cNvSpPr/>
          <p:nvPr/>
        </p:nvSpPr>
        <p:spPr>
          <a:xfrm>
            <a:off x="502920" y="1575816"/>
            <a:ext cx="6842760" cy="1213104"/>
          </a:xfrm>
          <a:prstGeom prst="roundRect">
            <a:avLst>
              <a:gd name="adj" fmla="val 31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777240" y="1732026"/>
            <a:ext cx="1828800" cy="237744"/>
          </a:xfrm>
          <a:prstGeom prst="rect">
            <a:avLst/>
          </a:prstGeom>
          <a:noFill/>
        </p:spPr>
        <p:txBody>
          <a:bodyPr wrap="square" lIns="0" tIns="0" rIns="0" bIns="0" rtlCol="0" anchor="ctr"/>
          <a:lstStyle/>
          <a:p>
            <a:pPr marL="0" indent="0">
              <a:buNone/>
            </a:pPr>
            <a:r>
              <a:rPr lang="en-US"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GAP 1</a:t>
            </a:r>
            <a:endParaRPr lang="en-US" dirty="0"/>
          </a:p>
        </p:txBody>
      </p:sp>
      <p:sp>
        <p:nvSpPr>
          <p:cNvPr id="6" name="Text 4"/>
          <p:cNvSpPr txBox="1"/>
          <p:nvPr/>
        </p:nvSpPr>
        <p:spPr>
          <a:xfrm>
            <a:off x="777240" y="2084070"/>
            <a:ext cx="6263640" cy="610362"/>
          </a:xfrm>
          <a:prstGeom prst="rect">
            <a:avLst/>
          </a:prstGeom>
          <a:noFill/>
        </p:spPr>
        <p:txBody>
          <a:bodyPr wrap="square" lIns="0" tIns="0" rIns="0" bIns="0" rtlCol="0" anchor="ctr"/>
          <a:lstStyle/>
          <a:p>
            <a:r>
              <a:rPr lang="en-IN" dirty="0"/>
              <a:t>Course suggestions can be generic when learner interests and skills are not represented explicitly.</a:t>
            </a:r>
            <a:endParaRPr lang="en-US" dirty="0"/>
          </a:p>
        </p:txBody>
      </p:sp>
      <p:sp>
        <p:nvSpPr>
          <p:cNvPr id="7" name="Shape 5"/>
          <p:cNvSpPr/>
          <p:nvPr/>
        </p:nvSpPr>
        <p:spPr>
          <a:xfrm>
            <a:off x="502920" y="3206496"/>
            <a:ext cx="6812280" cy="1042416"/>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8" name="Text 6"/>
          <p:cNvSpPr txBox="1"/>
          <p:nvPr/>
        </p:nvSpPr>
        <p:spPr>
          <a:xfrm>
            <a:off x="777240" y="3266948"/>
            <a:ext cx="1828800" cy="237744"/>
          </a:xfrm>
          <a:prstGeom prst="rect">
            <a:avLst/>
          </a:prstGeom>
          <a:noFill/>
        </p:spPr>
        <p:txBody>
          <a:bodyPr wrap="square" lIns="0" tIns="0" rIns="0" bIns="0" rtlCol="0" anchor="ctr"/>
          <a:lstStyle/>
          <a:p>
            <a:pPr marL="0" indent="0">
              <a:buNone/>
            </a:pPr>
            <a:r>
              <a:rPr lang="en-US"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GAP 2</a:t>
            </a:r>
            <a:endParaRPr lang="en-US" dirty="0"/>
          </a:p>
        </p:txBody>
      </p:sp>
      <p:sp>
        <p:nvSpPr>
          <p:cNvPr id="9" name="Text 7"/>
          <p:cNvSpPr txBox="1"/>
          <p:nvPr/>
        </p:nvSpPr>
        <p:spPr>
          <a:xfrm>
            <a:off x="777240" y="3617976"/>
            <a:ext cx="6172200" cy="502920"/>
          </a:xfrm>
          <a:prstGeom prst="rect">
            <a:avLst/>
          </a:prstGeom>
          <a:noFill/>
        </p:spPr>
        <p:txBody>
          <a:bodyPr wrap="square" lIns="0" tIns="0" rIns="0" bIns="0" rtlCol="0" anchor="ctr"/>
          <a:lstStyle/>
          <a:p>
            <a:r>
              <a:rPr lang="en-IN" dirty="0"/>
              <a:t>Recommendation lists often provide limited explanation of why each course was selected.</a:t>
            </a:r>
            <a:endParaRPr lang="en-US" dirty="0"/>
          </a:p>
        </p:txBody>
      </p:sp>
      <p:sp>
        <p:nvSpPr>
          <p:cNvPr id="10" name="Shape 8"/>
          <p:cNvSpPr/>
          <p:nvPr/>
        </p:nvSpPr>
        <p:spPr>
          <a:xfrm>
            <a:off x="502920" y="4715256"/>
            <a:ext cx="6812280" cy="1127760"/>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11" name="Text 9"/>
          <p:cNvSpPr txBox="1"/>
          <p:nvPr/>
        </p:nvSpPr>
        <p:spPr>
          <a:xfrm>
            <a:off x="853440" y="4858512"/>
            <a:ext cx="1828800" cy="237744"/>
          </a:xfrm>
          <a:prstGeom prst="rect">
            <a:avLst/>
          </a:prstGeom>
          <a:noFill/>
        </p:spPr>
        <p:txBody>
          <a:bodyPr wrap="square" lIns="0" tIns="0" rIns="0" bIns="0" rtlCol="0" anchor="ctr"/>
          <a:lstStyle/>
          <a:p>
            <a:pPr marL="0" indent="0">
              <a:buNone/>
            </a:pPr>
            <a:r>
              <a:rPr lang="en-US"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GAP 3</a:t>
            </a:r>
            <a:endParaRPr lang="en-US" dirty="0"/>
          </a:p>
        </p:txBody>
      </p:sp>
      <p:sp>
        <p:nvSpPr>
          <p:cNvPr id="12" name="Text 10"/>
          <p:cNvSpPr txBox="1"/>
          <p:nvPr/>
        </p:nvSpPr>
        <p:spPr>
          <a:xfrm>
            <a:off x="853440" y="5199888"/>
            <a:ext cx="6172200" cy="502920"/>
          </a:xfrm>
          <a:prstGeom prst="rect">
            <a:avLst/>
          </a:prstGeom>
          <a:noFill/>
        </p:spPr>
        <p:txBody>
          <a:bodyPr wrap="square" lIns="0" tIns="0" rIns="0" bIns="0" rtlCol="0" anchor="ctr"/>
          <a:lstStyle/>
          <a:p>
            <a:r>
              <a:rPr lang="en-IN" dirty="0"/>
              <a:t>Learners need a simple workflow that combines course browsing, search, personalized ranking and prerequisite awareness.</a:t>
            </a:r>
            <a:endParaRPr lang="en-US" dirty="0"/>
          </a:p>
        </p:txBody>
      </p:sp>
      <p:sp>
        <p:nvSpPr>
          <p:cNvPr id="13" name="Shape 11"/>
          <p:cNvSpPr/>
          <p:nvPr/>
        </p:nvSpPr>
        <p:spPr>
          <a:xfrm>
            <a:off x="7508240" y="1988820"/>
            <a:ext cx="3977640" cy="3502152"/>
          </a:xfrm>
          <a:prstGeom prst="roundRect">
            <a:avLst>
              <a:gd name="adj" fmla="val 2089"/>
            </a:avLst>
          </a:prstGeom>
          <a:solidFill>
            <a:srgbClr val="1B2A55"/>
          </a:solidFill>
          <a:ln w="12700">
            <a:solidFill>
              <a:srgbClr val="1B2A55"/>
            </a:solidFill>
            <a:prstDash val="solid"/>
          </a:ln>
        </p:spPr>
        <p:txBody>
          <a:bodyPr/>
          <a:lstStyle/>
          <a:p>
            <a:endParaRPr lang="en-IN"/>
          </a:p>
        </p:txBody>
      </p:sp>
      <p:sp>
        <p:nvSpPr>
          <p:cNvPr id="14" name="Text 12"/>
          <p:cNvSpPr txBox="1"/>
          <p:nvPr/>
        </p:nvSpPr>
        <p:spPr>
          <a:xfrm>
            <a:off x="7894320" y="2364232"/>
            <a:ext cx="3429000" cy="274320"/>
          </a:xfrm>
          <a:prstGeom prst="rect">
            <a:avLst/>
          </a:prstGeom>
          <a:noFill/>
        </p:spPr>
        <p:txBody>
          <a:bodyPr wrap="square" lIns="0" tIns="0" rIns="0" bIns="0" rtlCol="0" anchor="ctr"/>
          <a:lstStyle/>
          <a:p>
            <a:pPr marL="0" indent="0">
              <a:buNone/>
            </a:pPr>
            <a:r>
              <a:rPr lang="en-US"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OUR PROJECT ADDRESSES</a:t>
            </a:r>
            <a:endParaRPr lang="en-US" dirty="0"/>
          </a:p>
        </p:txBody>
      </p:sp>
      <p:sp>
        <p:nvSpPr>
          <p:cNvPr id="15" name="Text 13"/>
          <p:cNvSpPr txBox="1"/>
          <p:nvPr/>
        </p:nvSpPr>
        <p:spPr>
          <a:xfrm>
            <a:off x="7894320" y="3163316"/>
            <a:ext cx="3429000" cy="1463040"/>
          </a:xfrm>
          <a:prstGeom prst="rect">
            <a:avLst/>
          </a:prstGeom>
          <a:noFill/>
        </p:spPr>
        <p:txBody>
          <a:bodyPr wrap="square" lIns="0" tIns="0" rIns="0" bIns="0" rtlCol="0" anchor="ctr"/>
          <a:lstStyle/>
          <a:p>
            <a:r>
              <a:rPr lang="en-IN" dirty="0">
                <a:solidFill>
                  <a:schemeClr val="bg1"/>
                </a:solidFill>
              </a:rPr>
              <a:t>The system builds a learner profile from interests, skills and completed course titles, ranks courses with TF-IDF and cosine similarity, and shows matching terms plus prerequisite information.</a:t>
            </a:r>
            <a:endParaRPr lang="en-US" dirty="0">
              <a:solidFill>
                <a:schemeClr val="bg1"/>
              </a:solidFill>
            </a:endParaRPr>
          </a:p>
        </p:txBody>
      </p:sp>
      <p:sp>
        <p:nvSpPr>
          <p:cNvPr id="18" name="Text 16"/>
          <p:cNvSpPr txBox="1"/>
          <p:nvPr/>
        </p:nvSpPr>
        <p:spPr>
          <a:xfrm>
            <a:off x="548640" y="6355080"/>
            <a:ext cx="6400800" cy="274320"/>
          </a:xfrm>
          <a:prstGeom prst="rect">
            <a:avLst/>
          </a:prstGeom>
          <a:noFill/>
        </p:spPr>
        <p:txBody>
          <a:bodyPr wrap="square" lIns="0" tIns="0" rIns="0" bIns="0" rtlCol="0" anchor="ctr"/>
          <a:lstStyle/>
          <a:p>
            <a:pPr marL="0" indent="0">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dirty="0"/>
          </a:p>
        </p:txBody>
      </p:sp>
      <p:sp>
        <p:nvSpPr>
          <p:cNvPr id="19" name="Text 17"/>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6</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5</a:t>
            </a:r>
            <a:endParaRPr lang="en-US"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b="1" dirty="0">
                <a:solidFill>
                  <a:srgbClr val="1B2A55"/>
                </a:solidFill>
                <a:latin typeface="Cambria" panose="02040503050406030204" pitchFamily="34" charset="0"/>
                <a:ea typeface="Cambria" panose="02040503050406030204" pitchFamily="34" charset="-122"/>
                <a:cs typeface="Cambria" panose="02040503050406030204" pitchFamily="34" charset="-120"/>
              </a:rPr>
              <a:t>Objectives of the Project</a:t>
            </a:r>
            <a:endParaRPr lang="en-US" dirty="0"/>
          </a:p>
        </p:txBody>
      </p:sp>
      <p:sp>
        <p:nvSpPr>
          <p:cNvPr id="4" name="Text 2"/>
          <p:cNvSpPr txBox="1"/>
          <p:nvPr/>
        </p:nvSpPr>
        <p:spPr>
          <a:xfrm>
            <a:off x="548640" y="1188720"/>
            <a:ext cx="11064240" cy="274320"/>
          </a:xfrm>
          <a:prstGeom prst="rect">
            <a:avLst/>
          </a:prstGeom>
          <a:noFill/>
        </p:spPr>
        <p:txBody>
          <a:bodyPr wrap="square" lIns="0" tIns="0" rIns="0" bIns="0" rtlCol="0" anchor="ctr"/>
          <a:lstStyle/>
          <a:p>
            <a:pPr marL="0" indent="0">
              <a:buNone/>
            </a:pPr>
            <a:endParaRPr lang="en-US" dirty="0"/>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6" name="Shape 4"/>
          <p:cNvSpPr/>
          <p:nvPr/>
        </p:nvSpPr>
        <p:spPr>
          <a:xfrm>
            <a:off x="822960" y="1892808"/>
            <a:ext cx="384048" cy="384048"/>
          </a:xfrm>
          <a:prstGeom prst="ellipse">
            <a:avLst/>
          </a:prstGeom>
          <a:solidFill>
            <a:srgbClr val="C8A02C"/>
          </a:solidFill>
        </p:spPr>
        <p:txBody>
          <a:bodyPr/>
          <a:lstStyle/>
          <a:p>
            <a:endParaRPr lang="en-IN"/>
          </a:p>
        </p:txBody>
      </p:sp>
      <p:sp>
        <p:nvSpPr>
          <p:cNvPr id="7" name="Text 5"/>
          <p:cNvSpPr txBox="1"/>
          <p:nvPr/>
        </p:nvSpPr>
        <p:spPr>
          <a:xfrm>
            <a:off x="822960" y="1892808"/>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1</a:t>
            </a:r>
            <a:endParaRPr lang="en-US" dirty="0"/>
          </a:p>
        </p:txBody>
      </p:sp>
      <p:sp>
        <p:nvSpPr>
          <p:cNvPr id="8" name="Text 6"/>
          <p:cNvSpPr txBox="1"/>
          <p:nvPr/>
        </p:nvSpPr>
        <p:spPr>
          <a:xfrm>
            <a:off x="1371600" y="1627632"/>
            <a:ext cx="9966960" cy="914400"/>
          </a:xfrm>
          <a:prstGeom prst="rect">
            <a:avLst/>
          </a:prstGeom>
          <a:noFill/>
        </p:spPr>
        <p:txBody>
          <a:bodyPr wrap="square" lIns="0" tIns="0" rIns="0" bIns="0" rtlCol="0" anchor="ctr"/>
          <a:lstStyle/>
          <a:p>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To prepare course data : Use a structured course catalogue containing titles, descriptions, skills, years and prerequisites.</a:t>
            </a:r>
            <a:endParaRPr lang="en-US" dirty="0"/>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0" name="Shape 8"/>
          <p:cNvSpPr/>
          <p:nvPr/>
        </p:nvSpPr>
        <p:spPr>
          <a:xfrm>
            <a:off x="822960" y="2971800"/>
            <a:ext cx="384048" cy="384048"/>
          </a:xfrm>
          <a:prstGeom prst="ellipse">
            <a:avLst/>
          </a:prstGeom>
          <a:solidFill>
            <a:srgbClr val="C8A02C"/>
          </a:solidFill>
        </p:spPr>
        <p:txBody>
          <a:bodyPr/>
          <a:lstStyle/>
          <a:p>
            <a:endParaRPr lang="en-IN"/>
          </a:p>
        </p:txBody>
      </p:sp>
      <p:sp>
        <p:nvSpPr>
          <p:cNvPr id="11" name="Text 9"/>
          <p:cNvSpPr txBox="1"/>
          <p:nvPr/>
        </p:nvSpPr>
        <p:spPr>
          <a:xfrm>
            <a:off x="822960" y="2971800"/>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2</a:t>
            </a:r>
            <a:endParaRPr lang="en-US" dirty="0"/>
          </a:p>
        </p:txBody>
      </p:sp>
      <p:sp>
        <p:nvSpPr>
          <p:cNvPr id="12" name="Text 10"/>
          <p:cNvSpPr txBox="1"/>
          <p:nvPr/>
        </p:nvSpPr>
        <p:spPr>
          <a:xfrm>
            <a:off x="1371600" y="2706624"/>
            <a:ext cx="9966960" cy="914400"/>
          </a:xfrm>
          <a:prstGeom prst="rect">
            <a:avLst/>
          </a:prstGeom>
          <a:noFill/>
        </p:spPr>
        <p:txBody>
          <a:bodyPr wrap="square" lIns="0" tIns="0" rIns="0" bIns="0" rtlCol="0" anchor="ctr"/>
          <a:lstStyle/>
          <a:p>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To build recommendations : Represent course text with TF-IDF and compare it with the learner profile using cosine similarity.</a:t>
            </a:r>
            <a:endParaRPr lang="en-US" dirty="0"/>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4" name="Shape 12"/>
          <p:cNvSpPr/>
          <p:nvPr/>
        </p:nvSpPr>
        <p:spPr>
          <a:xfrm>
            <a:off x="822960" y="4050792"/>
            <a:ext cx="384048" cy="384048"/>
          </a:xfrm>
          <a:prstGeom prst="ellipse">
            <a:avLst/>
          </a:prstGeom>
          <a:solidFill>
            <a:srgbClr val="C8A02C"/>
          </a:solidFill>
        </p:spPr>
        <p:txBody>
          <a:bodyPr/>
          <a:lstStyle/>
          <a:p>
            <a:endParaRPr lang="en-IN"/>
          </a:p>
        </p:txBody>
      </p:sp>
      <p:sp>
        <p:nvSpPr>
          <p:cNvPr id="15" name="Text 13"/>
          <p:cNvSpPr txBox="1"/>
          <p:nvPr/>
        </p:nvSpPr>
        <p:spPr>
          <a:xfrm>
            <a:off x="822960" y="4050792"/>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3</a:t>
            </a:r>
            <a:endParaRPr lang="en-US" dirty="0"/>
          </a:p>
        </p:txBody>
      </p:sp>
      <p:sp>
        <p:nvSpPr>
          <p:cNvPr id="16" name="Text 14"/>
          <p:cNvSpPr txBox="1"/>
          <p:nvPr/>
        </p:nvSpPr>
        <p:spPr>
          <a:xfrm>
            <a:off x="1371600" y="3785616"/>
            <a:ext cx="9966960" cy="914400"/>
          </a:xfrm>
          <a:prstGeom prst="rect">
            <a:avLst/>
          </a:prstGeom>
          <a:noFill/>
        </p:spPr>
        <p:txBody>
          <a:bodyPr wrap="square" lIns="0" tIns="0" rIns="0" bIns="0" rtlCol="0" anchor="ctr"/>
          <a:lstStyle/>
          <a:p>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To explain suggestions : Display a content-match score, matched interest/skill terms and missing prerequisites.</a:t>
            </a:r>
            <a:endParaRPr lang="en-US" dirty="0"/>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8" name="Shape 16"/>
          <p:cNvSpPr/>
          <p:nvPr/>
        </p:nvSpPr>
        <p:spPr>
          <a:xfrm>
            <a:off x="822960" y="5129784"/>
            <a:ext cx="384048" cy="384048"/>
          </a:xfrm>
          <a:prstGeom prst="ellipse">
            <a:avLst/>
          </a:prstGeom>
          <a:solidFill>
            <a:srgbClr val="C8A02C"/>
          </a:solidFill>
        </p:spPr>
        <p:txBody>
          <a:bodyPr/>
          <a:lstStyle/>
          <a:p>
            <a:endParaRPr lang="en-IN"/>
          </a:p>
        </p:txBody>
      </p:sp>
      <p:sp>
        <p:nvSpPr>
          <p:cNvPr id="19" name="Text 17"/>
          <p:cNvSpPr txBox="1"/>
          <p:nvPr/>
        </p:nvSpPr>
        <p:spPr>
          <a:xfrm>
            <a:off x="822960" y="5129784"/>
            <a:ext cx="384048" cy="384048"/>
          </a:xfrm>
          <a:prstGeom prst="rect">
            <a:avLst/>
          </a:prstGeom>
          <a:noFill/>
        </p:spPr>
        <p:txBody>
          <a:bodyPr wrap="square" lIns="0" tIns="0" rIns="0" bIns="0" rtlCol="0" anchor="ctr"/>
          <a:lstStyle/>
          <a:p>
            <a:pPr marL="0" indent="0" algn="ctr">
              <a:buNone/>
            </a:pPr>
            <a:r>
              <a:rPr lang="en-US" b="1" dirty="0">
                <a:solidFill>
                  <a:srgbClr val="101B3A"/>
                </a:solidFill>
                <a:latin typeface="Calibri" panose="020F0502020204030204" pitchFamily="34" charset="0"/>
                <a:ea typeface="Calibri" panose="020F0502020204030204" pitchFamily="34" charset="-122"/>
                <a:cs typeface="Calibri" panose="020F0502020204030204" pitchFamily="34" charset="-120"/>
              </a:rPr>
              <a:t>4</a:t>
            </a:r>
            <a:endParaRPr lang="en-US" dirty="0"/>
          </a:p>
        </p:txBody>
      </p:sp>
      <p:sp>
        <p:nvSpPr>
          <p:cNvPr id="20" name="Text 18"/>
          <p:cNvSpPr txBox="1"/>
          <p:nvPr/>
        </p:nvSpPr>
        <p:spPr>
          <a:xfrm>
            <a:off x="1371600" y="4864608"/>
            <a:ext cx="9966960" cy="914400"/>
          </a:xfrm>
          <a:prstGeom prst="rect">
            <a:avLst/>
          </a:prstGeom>
          <a:noFill/>
        </p:spPr>
        <p:txBody>
          <a:bodyPr wrap="square" lIns="0" tIns="0" rIns="0" bIns="0" rtlCol="0" anchor="ctr"/>
          <a:lstStyle/>
          <a:p>
            <a:r>
              <a:rPr lang="en-US" b="1" dirty="0">
                <a:solidFill>
                  <a:srgbClr val="1B2A55"/>
                </a:solidFill>
                <a:latin typeface="Calibri" panose="020F0502020204030204" pitchFamily="34" charset="0"/>
                <a:ea typeface="Calibri" panose="020F0502020204030204" pitchFamily="34" charset="-122"/>
                <a:cs typeface="Calibri" panose="020F0502020204030204" pitchFamily="34" charset="-120"/>
              </a:rPr>
              <a:t>To deliver a usable web app : Support year selection, course browsing, searching and personalized course recommendations.</a:t>
            </a:r>
            <a:endParaRPr lang="en-US" dirty="0"/>
          </a:p>
        </p:txBody>
      </p:sp>
      <p:sp>
        <p:nvSpPr>
          <p:cNvPr id="21" name="Text 19"/>
          <p:cNvSpPr txBox="1"/>
          <p:nvPr/>
        </p:nvSpPr>
        <p:spPr>
          <a:xfrm>
            <a:off x="548640" y="5943600"/>
            <a:ext cx="11064240" cy="274320"/>
          </a:xfrm>
          <a:prstGeom prst="rect">
            <a:avLst/>
          </a:prstGeom>
          <a:noFill/>
        </p:spPr>
        <p:txBody>
          <a:bodyPr wrap="square" lIns="0" tIns="0" rIns="0" bIns="0" rtlCol="0" anchor="ctr"/>
          <a:lstStyle/>
          <a:p>
            <a:pPr marL="0" indent="0">
              <a:buNone/>
            </a:pPr>
            <a:endParaRPr lang="en-US" dirty="0"/>
          </a:p>
        </p:txBody>
      </p:sp>
      <p:sp>
        <p:nvSpPr>
          <p:cNvPr id="22" name="Text 20"/>
          <p:cNvSpPr txBox="1"/>
          <p:nvPr/>
        </p:nvSpPr>
        <p:spPr>
          <a:xfrm>
            <a:off x="548640" y="6355080"/>
            <a:ext cx="6400800" cy="274320"/>
          </a:xfrm>
          <a:prstGeom prst="rect">
            <a:avLst/>
          </a:prstGeom>
          <a:noFill/>
        </p:spPr>
        <p:txBody>
          <a:bodyPr wrap="square" lIns="0" tIns="0" rIns="0" bIns="0" rtlCol="0" anchor="ctr"/>
          <a:lstStyle/>
          <a:p>
            <a:pPr marL="0" indent="0">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dirty="0"/>
          </a:p>
        </p:txBody>
      </p:sp>
      <p:sp>
        <p:nvSpPr>
          <p:cNvPr id="23" name="Text 21"/>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dirty="0">
                <a:solidFill>
                  <a:srgbClr val="6B7280"/>
                </a:solidFill>
                <a:latin typeface="Calibri" panose="020F0502020204030204" pitchFamily="34" charset="0"/>
                <a:ea typeface="Calibri" panose="020F0502020204030204" pitchFamily="34" charset="-122"/>
                <a:cs typeface="Calibri" panose="020F0502020204030204" pitchFamily="34" charset="-120"/>
              </a:rPr>
              <a:t>7</a:t>
            </a:r>
            <a:endParaRPr lang="en-US" dirty="0"/>
          </a:p>
        </p:txBody>
      </p:sp>
      <p:sp>
        <p:nvSpPr>
          <p:cNvPr id="24" name="TextBox 23"/>
          <p:cNvSpPr txBox="1"/>
          <p:nvPr/>
        </p:nvSpPr>
        <p:spPr>
          <a:xfrm>
            <a:off x="323193" y="425669"/>
            <a:ext cx="184731" cy="369332"/>
          </a:xfrm>
          <a:prstGeom prst="rect">
            <a:avLst/>
          </a:prstGeom>
          <a:noFill/>
        </p:spPr>
        <p:txBody>
          <a:bodyPr wrap="none" rtlCol="0">
            <a:spAutoFit/>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6</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685800" y="1713992"/>
            <a:ext cx="2286000" cy="292608"/>
          </a:xfrm>
          <a:prstGeom prst="rect">
            <a:avLst/>
          </a:prstGeom>
          <a:noFill/>
        </p:spPr>
        <p:txBody>
          <a:bodyPr wrap="square" lIns="0" tIns="0" rIns="0" bIns="0" rtlCol="0" anchor="ctr"/>
          <a:lstStyle/>
          <a:p>
            <a:pPr marL="0" indent="0" algn="ctr">
              <a:buNone/>
            </a:pPr>
            <a:r>
              <a:rPr lang="en-US" sz="1200" b="1" kern="0" spc="120" dirty="0">
                <a:solidFill>
                  <a:srgbClr val="1B2A55"/>
                </a:solidFill>
                <a:latin typeface="Calibri" panose="020F0502020204030204" pitchFamily="34" charset="0"/>
                <a:ea typeface="Calibri" panose="020F0502020204030204" pitchFamily="34" charset="-122"/>
                <a:cs typeface="Calibri" panose="020F0502020204030204" pitchFamily="34" charset="-120"/>
              </a:rPr>
              <a:t>LEARNER INPUT</a:t>
            </a:r>
            <a:endParaRPr lang="en-US" sz="1200" dirty="0"/>
          </a:p>
        </p:txBody>
      </p:sp>
      <p:sp>
        <p:nvSpPr>
          <p:cNvPr id="6" name="Text 4"/>
          <p:cNvSpPr txBox="1"/>
          <p:nvPr/>
        </p:nvSpPr>
        <p:spPr>
          <a:xfrm>
            <a:off x="685800" y="2286000"/>
            <a:ext cx="2286000" cy="1005840"/>
          </a:xfrm>
          <a:prstGeom prst="rect">
            <a:avLst/>
          </a:prstGeom>
          <a:noFill/>
        </p:spPr>
        <p:txBody>
          <a:bodyPr wrap="square" lIns="0" tIns="0" rIns="0" bIns="0" rtlCol="0" anchor="ctr"/>
          <a:lstStyle/>
          <a:p>
            <a:pPr algn="ctr"/>
            <a:r>
              <a:rPr lang="en-US" altLang="en-US" sz="1200" dirty="0"/>
              <a:t>• Completed Subjects: List of academic courses the student has already passed.</a:t>
            </a:r>
            <a:endParaRPr lang="en-US" altLang="en-US" sz="1200" dirty="0"/>
          </a:p>
          <a:p>
            <a:pPr algn="ctr"/>
            <a:r>
              <a:rPr lang="en-US" altLang="en-US" sz="1200" dirty="0"/>
              <a:t>• Stated Interests: Career goals, domain choices, or desired skills </a:t>
            </a:r>
            <a:endParaRPr lang="en-US" sz="1200" dirty="0"/>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9" name="Text 7"/>
          <p:cNvSpPr txBox="1"/>
          <p:nvPr/>
        </p:nvSpPr>
        <p:spPr>
          <a:xfrm>
            <a:off x="3575304" y="1920240"/>
            <a:ext cx="2286000" cy="292608"/>
          </a:xfrm>
          <a:prstGeom prst="rect">
            <a:avLst/>
          </a:prstGeom>
          <a:noFill/>
        </p:spPr>
        <p:txBody>
          <a:bodyPr wrap="square" lIns="0" tIns="0" rIns="0" bIns="0" rtlCol="0" anchor="ctr"/>
          <a:lstStyle/>
          <a:p>
            <a:pPr marL="0" indent="0" algn="ctr">
              <a:buNone/>
            </a:pPr>
            <a:r>
              <a:rPr lang="en-US" sz="1200" b="1" kern="0" spc="120" dirty="0">
                <a:solidFill>
                  <a:srgbClr val="1B2A55"/>
                </a:solidFill>
                <a:latin typeface="Calibri" panose="020F0502020204030204" pitchFamily="34" charset="0"/>
                <a:ea typeface="Calibri" panose="020F0502020204030204" pitchFamily="34" charset="-122"/>
                <a:cs typeface="Calibri" panose="020F0502020204030204" pitchFamily="34" charset="-120"/>
              </a:rPr>
              <a:t>TEXT FEATURES</a:t>
            </a:r>
            <a:endParaRPr lang="en-US" sz="1200" dirty="0"/>
          </a:p>
        </p:txBody>
      </p:sp>
      <p:sp>
        <p:nvSpPr>
          <p:cNvPr id="10" name="Text 8"/>
          <p:cNvSpPr txBox="1"/>
          <p:nvPr/>
        </p:nvSpPr>
        <p:spPr>
          <a:xfrm>
            <a:off x="3575050" y="2193925"/>
            <a:ext cx="2286000" cy="1097915"/>
          </a:xfrm>
          <a:prstGeom prst="rect">
            <a:avLst/>
          </a:prstGeom>
          <a:noFill/>
        </p:spPr>
        <p:txBody>
          <a:bodyPr wrap="square" lIns="0" tIns="0" rIns="0" bIns="0" rtlCol="0" anchor="ctr"/>
          <a:lstStyle/>
          <a:p>
            <a:pPr marL="0" indent="0" algn="ctr">
              <a:buNone/>
            </a:pPr>
            <a:endParaRPr lang="en-US" altLang="en-US" sz="1200" dirty="0"/>
          </a:p>
          <a:p>
            <a:pPr marL="0" indent="0" algn="ctr">
              <a:buNone/>
            </a:pPr>
            <a:r>
              <a:rPr lang="en-US" altLang="en-US" sz="1200" dirty="0"/>
              <a:t>• Text Cleaning: Lowercasing text and removing punctuation or special characters.</a:t>
            </a:r>
            <a:endParaRPr lang="en-US" altLang="en-US" sz="1200" dirty="0"/>
          </a:p>
          <a:p>
            <a:pPr marL="0" indent="0" algn="ctr">
              <a:buNone/>
            </a:pPr>
            <a:r>
              <a:rPr lang="en-US" altLang="en-US" sz="1200" dirty="0"/>
              <a:t>• Stop Word Removal: Stripping out generic words that carry no semantic weight</a:t>
            </a:r>
            <a:endParaRPr lang="en-US" altLang="en-US" sz="1200" dirty="0"/>
          </a:p>
          <a:p>
            <a:pPr marL="0" indent="0" algn="ctr">
              <a:buNone/>
            </a:pPr>
            <a:endParaRPr lang="en-US" sz="1200" dirty="0"/>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txBody>
          <a:bodyPr/>
          <a:lstStyle/>
          <a:p>
            <a:endParaRPr lang="en-IN"/>
          </a:p>
        </p:txBody>
      </p:sp>
      <p:sp>
        <p:nvSpPr>
          <p:cNvPr id="13" name="Text 11"/>
          <p:cNvSpPr txBox="1"/>
          <p:nvPr/>
        </p:nvSpPr>
        <p:spPr>
          <a:xfrm>
            <a:off x="6464808" y="1920240"/>
            <a:ext cx="2286000" cy="292608"/>
          </a:xfrm>
          <a:prstGeom prst="rect">
            <a:avLst/>
          </a:prstGeom>
          <a:noFill/>
        </p:spPr>
        <p:txBody>
          <a:bodyPr wrap="square" lIns="0" tIns="0" rIns="0" bIns="0" rtlCol="0" anchor="ctr"/>
          <a:lstStyle/>
          <a:p>
            <a:pPr marL="0" indent="0" algn="ctr">
              <a:buNone/>
            </a:pPr>
            <a:r>
              <a:rPr lang="en-US" sz="1200" b="1" kern="0" spc="120" dirty="0">
                <a:solidFill>
                  <a:srgbClr val="C8A02C"/>
                </a:solidFill>
                <a:latin typeface="Calibri" panose="020F0502020204030204" pitchFamily="34" charset="0"/>
                <a:ea typeface="Calibri" panose="020F0502020204030204" pitchFamily="34" charset="-122"/>
                <a:cs typeface="Calibri" panose="020F0502020204030204" pitchFamily="34" charset="-120"/>
              </a:rPr>
              <a:t>CORE MODULE</a:t>
            </a:r>
            <a:endParaRPr lang="en-US" sz="1200" dirty="0"/>
          </a:p>
        </p:txBody>
      </p:sp>
      <p:sp>
        <p:nvSpPr>
          <p:cNvPr id="14" name="Text 12"/>
          <p:cNvSpPr txBox="1"/>
          <p:nvPr/>
        </p:nvSpPr>
        <p:spPr>
          <a:xfrm>
            <a:off x="6464935" y="2182495"/>
            <a:ext cx="2286000" cy="1109345"/>
          </a:xfrm>
          <a:prstGeom prst="rect">
            <a:avLst/>
          </a:prstGeom>
        </p:spPr>
        <p:style>
          <a:lnRef idx="2">
            <a:schemeClr val="accent1"/>
          </a:lnRef>
          <a:fillRef idx="0">
            <a:srgbClr val="FFFFFF"/>
          </a:fillRef>
          <a:effectRef idx="0">
            <a:srgbClr val="FFFFFF"/>
          </a:effectRef>
          <a:fontRef idx="minor">
            <a:schemeClr val="tx1"/>
          </a:fontRef>
        </p:style>
        <p:txBody>
          <a:bodyPr wrap="square" lIns="0" tIns="0" rIns="0" bIns="0" rtlCol="0" anchor="ctr"/>
          <a:lstStyle/>
          <a:p>
            <a:pPr marL="0" indent="0" algn="ctr">
              <a:buNone/>
            </a:pPr>
            <a:r>
              <a:rPr lang="en-US" altLang="en-US" sz="1200" dirty="0">
                <a:solidFill>
                  <a:schemeClr val="bg1"/>
                </a:solidFill>
              </a:rPr>
              <a:t>• TF-IDF Vectorization: Converts the cleaned text tokens into mathematical vectors based on keyword rarity.</a:t>
            </a:r>
            <a:endParaRPr lang="en-US" altLang="en-US" sz="1200" dirty="0">
              <a:solidFill>
                <a:schemeClr val="bg1"/>
              </a:solidFill>
            </a:endParaRPr>
          </a:p>
          <a:p>
            <a:pPr marL="0" indent="0" algn="ctr">
              <a:buNone/>
            </a:pPr>
            <a:r>
              <a:rPr lang="en-US" altLang="en-US" sz="1200" dirty="0">
                <a:solidFill>
                  <a:schemeClr val="bg1"/>
                </a:solidFill>
              </a:rPr>
              <a:t>• Cosine Similarity: Measures the geometric angle between the User</a:t>
            </a:r>
            <a:r>
              <a:rPr lang="en-US" altLang="en-US" sz="1200" dirty="0"/>
              <a:t> </a:t>
            </a:r>
            <a:r>
              <a:rPr lang="en-US" altLang="en-US" sz="1200" dirty="0">
                <a:solidFill>
                  <a:schemeClr val="bg1"/>
                </a:solidFill>
              </a:rPr>
              <a:t>Vector and Kaggle Course Vectors.</a:t>
            </a:r>
            <a:endParaRPr lang="en-US" altLang="en-US" sz="1200" dirty="0">
              <a:solidFill>
                <a:schemeClr val="bg1"/>
              </a:solidFill>
            </a:endParaRPr>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17" name="Text 15"/>
          <p:cNvSpPr txBox="1"/>
          <p:nvPr/>
        </p:nvSpPr>
        <p:spPr>
          <a:xfrm>
            <a:off x="9354312" y="1920240"/>
            <a:ext cx="2286000" cy="292608"/>
          </a:xfrm>
          <a:prstGeom prst="rect">
            <a:avLst/>
          </a:prstGeom>
          <a:noFill/>
        </p:spPr>
        <p:txBody>
          <a:bodyPr wrap="square" lIns="0" tIns="0" rIns="0" bIns="0" rtlCol="0" anchor="ctr"/>
          <a:lstStyle/>
          <a:p>
            <a:pPr marL="0" indent="0" algn="ctr">
              <a:buNone/>
            </a:pPr>
            <a:r>
              <a:rPr lang="en-US" sz="1200" b="1" kern="0" spc="120" dirty="0">
                <a:solidFill>
                  <a:srgbClr val="1B2A55"/>
                </a:solidFill>
                <a:latin typeface="Calibri" panose="020F0502020204030204" pitchFamily="34" charset="0"/>
                <a:ea typeface="Calibri" panose="020F0502020204030204" pitchFamily="34" charset="-122"/>
                <a:cs typeface="Calibri" panose="020F0502020204030204" pitchFamily="34" charset="-120"/>
              </a:rPr>
              <a:t>RANKED OUTPUT</a:t>
            </a:r>
            <a:endParaRPr lang="en-US" sz="1200" dirty="0"/>
          </a:p>
        </p:txBody>
      </p:sp>
      <p:sp>
        <p:nvSpPr>
          <p:cNvPr id="18" name="Text 16"/>
          <p:cNvSpPr txBox="1"/>
          <p:nvPr/>
        </p:nvSpPr>
        <p:spPr>
          <a:xfrm>
            <a:off x="9354185" y="2193925"/>
            <a:ext cx="2286000" cy="1097915"/>
          </a:xfrm>
          <a:prstGeom prst="rect">
            <a:avLst/>
          </a:prstGeom>
          <a:noFill/>
        </p:spPr>
        <p:txBody>
          <a:bodyPr wrap="square" lIns="0" tIns="0" rIns="0" bIns="0" rtlCol="0" anchor="ctr"/>
          <a:lstStyle/>
          <a:p>
            <a:pPr marL="0" indent="0" algn="ctr">
              <a:buNone/>
            </a:pPr>
            <a:r>
              <a:rPr lang="en-US" altLang="en-US" sz="1200" dirty="0"/>
              <a:t>• Top-N Selection: Isolates the top 5 to 10 highest-scoring course matches.</a:t>
            </a:r>
            <a:endParaRPr lang="en-US" altLang="en-US" sz="1200" dirty="0"/>
          </a:p>
          <a:p>
            <a:pPr marL="0" indent="0" algn="ctr">
              <a:buNone/>
            </a:pPr>
            <a:r>
              <a:rPr lang="en-US" altLang="en-US" sz="1200" dirty="0"/>
              <a:t>• Match Score: Displays a percentage matching value based on similarity proximity.</a:t>
            </a:r>
            <a:endParaRPr lang="en-US" altLang="en-US" sz="1200" dirty="0"/>
          </a:p>
        </p:txBody>
      </p:sp>
      <p:sp>
        <p:nvSpPr>
          <p:cNvPr id="19" name="Shape 17"/>
          <p:cNvSpPr/>
          <p:nvPr/>
        </p:nvSpPr>
        <p:spPr>
          <a:xfrm>
            <a:off x="548640" y="3749040"/>
            <a:ext cx="7315200" cy="2103120"/>
          </a:xfrm>
          <a:prstGeom prst="roundRect">
            <a:avLst>
              <a:gd name="adj" fmla="val 3478"/>
            </a:avLst>
          </a:prstGeom>
          <a:solidFill>
            <a:srgbClr val="FFFFFF"/>
          </a:solidFill>
          <a:ln w="12700">
            <a:solidFill>
              <a:srgbClr val="9AA5B8"/>
            </a:solidFill>
            <a:prstDash val="dash"/>
          </a:ln>
        </p:spPr>
        <p:txBody>
          <a:bodyPr/>
          <a:lstStyle/>
          <a:p>
            <a:endParaRPr lang="en-IN"/>
          </a:p>
        </p:txBody>
      </p:sp>
      <p:sp>
        <p:nvSpPr>
          <p:cNvPr id="20" name="Text 18"/>
          <p:cNvSpPr txBox="1"/>
          <p:nvPr/>
        </p:nvSpPr>
        <p:spPr>
          <a:xfrm>
            <a:off x="685800" y="3749040"/>
            <a:ext cx="7040880" cy="2103120"/>
          </a:xfrm>
          <a:prstGeom prst="rect">
            <a:avLst/>
          </a:prstGeom>
          <a:noFill/>
        </p:spPr>
        <p:txBody>
          <a:bodyPr wrap="square" lIns="0" tIns="0" rIns="0" bIns="0" rtlCol="0" anchor="ctr"/>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Flask API flow: Browser form → /api/recommend → learner profile text → TF-IDF vectorization → cosine similarity for each course in selected year → rank top 10 → JSON response → course cards with match score and explanation.</a:t>
            </a:r>
            <a:endParaRPr lang="en-US" sz="1200" dirty="0"/>
          </a:p>
          <a:p>
            <a:pPr marL="0" indent="0" algn="ctr">
              <a:buNone/>
            </a:pPr>
            <a:endParaRPr lang="en-US" sz="1200" dirty="0"/>
          </a:p>
        </p:txBody>
      </p:sp>
      <p:sp>
        <p:nvSpPr>
          <p:cNvPr id="21" name="Shape 19"/>
          <p:cNvSpPr/>
          <p:nvPr/>
        </p:nvSpPr>
        <p:spPr>
          <a:xfrm>
            <a:off x="8092440" y="3749040"/>
            <a:ext cx="3520440" cy="2103120"/>
          </a:xfrm>
          <a:prstGeom prst="roundRect">
            <a:avLst>
              <a:gd name="adj" fmla="val 3478"/>
            </a:avLst>
          </a:prstGeom>
          <a:solidFill>
            <a:srgbClr val="FDF6E6"/>
          </a:solidFill>
          <a:ln w="12700">
            <a:solidFill>
              <a:srgbClr val="DDE3EC"/>
            </a:solidFill>
            <a:prstDash val="solid"/>
          </a:ln>
        </p:spPr>
        <p:txBody>
          <a:bodyPr/>
          <a:lstStyle/>
          <a:p>
            <a:endParaRPr lang="en-IN"/>
          </a:p>
        </p:txBody>
      </p:sp>
      <p:sp>
        <p:nvSpPr>
          <p:cNvPr id="22" name="Text 20"/>
          <p:cNvSpPr txBox="1"/>
          <p:nvPr/>
        </p:nvSpPr>
        <p:spPr>
          <a:xfrm>
            <a:off x="8321040" y="3931920"/>
            <a:ext cx="3063240" cy="274320"/>
          </a:xfrm>
          <a:prstGeom prst="rect">
            <a:avLst/>
          </a:prstGeom>
          <a:noFill/>
        </p:spPr>
        <p:txBody>
          <a:bodyPr wrap="square" lIns="0" tIns="0" rIns="0" bIns="0" rtlCol="0" anchor="ctr"/>
          <a:lstStyle/>
          <a:p>
            <a:pPr marL="0" indent="0">
              <a:buNone/>
            </a:pPr>
            <a:r>
              <a:rPr lang="en-US" sz="1350" b="1" dirty="0">
                <a:solidFill>
                  <a:srgbClr val="A4161A"/>
                </a:solidFill>
                <a:latin typeface="Calibri" panose="020F0502020204030204" pitchFamily="34" charset="0"/>
                <a:ea typeface="Calibri" panose="020F0502020204030204" pitchFamily="34" charset="-122"/>
                <a:cs typeface="Calibri" panose="020F0502020204030204" pitchFamily="34" charset="-120"/>
              </a:rPr>
              <a:t>Key implementation detail</a:t>
            </a:r>
            <a:endParaRPr lang="en-US" sz="1350" dirty="0"/>
          </a:p>
        </p:txBody>
      </p:sp>
      <p:sp>
        <p:nvSpPr>
          <p:cNvPr id="23" name="Text 21"/>
          <p:cNvSpPr txBox="1"/>
          <p:nvPr/>
        </p:nvSpPr>
        <p:spPr>
          <a:xfrm>
            <a:off x="8321040" y="4251960"/>
            <a:ext cx="3063240" cy="1371600"/>
          </a:xfrm>
          <a:prstGeom prst="rect">
            <a:avLst/>
          </a:prstGeom>
          <a:noFill/>
        </p:spPr>
        <p:txBody>
          <a:bodyPr wrap="square" lIns="0" tIns="0" rIns="0" bIns="0" rtlCol="0" anchor="ctr"/>
          <a:lstStyle/>
          <a:p>
            <a:pPr marL="0" indent="0">
              <a:buNone/>
            </a:pPr>
            <a:r>
              <a:rPr lang="en-US" sz="1200" dirty="0">
                <a:solidFill>
                  <a:srgbClr val="1F2430"/>
                </a:solidFill>
                <a:latin typeface="Calibri" panose="020F0502020204030204" pitchFamily="34" charset="0"/>
                <a:ea typeface="Calibri" panose="020F0502020204030204" pitchFamily="34" charset="-122"/>
                <a:cs typeface="Calibri" panose="020F0502020204030204" pitchFamily="34" charset="-120"/>
              </a:rPr>
              <a:t>The app uses Flask routes for course listing, search, prerequisites and recommendations. Course data is loaded from courses.json; no external database is required for this prototype.</a:t>
            </a:r>
            <a:endParaRPr lang="en-US" sz="1200" dirty="0"/>
          </a:p>
        </p:txBody>
      </p:sp>
      <p:sp>
        <p:nvSpPr>
          <p:cNvPr id="24" name="Text 22"/>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8</a:t>
            </a:r>
            <a:endParaRPr lang="en-US" sz="950" dirty="0"/>
          </a:p>
        </p:txBody>
      </p:sp>
      <p:pic>
        <p:nvPicPr>
          <p:cNvPr id="26" name="Picture 25"/>
          <p:cNvPicPr/>
          <p:nvPr/>
        </p:nvPicPr>
        <p:blipFill>
          <a:blip r:embed="rId1"/>
          <a:stretch>
            <a:fillRect/>
          </a:stretch>
        </p:blipFill>
        <p:spPr>
          <a:xfrm>
            <a:off x="548640" y="3766820"/>
            <a:ext cx="7478395" cy="21126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7</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822960" y="1737360"/>
            <a:ext cx="411480" cy="411480"/>
          </a:xfrm>
          <a:prstGeom prst="ellipse">
            <a:avLst/>
          </a:prstGeom>
          <a:solidFill>
            <a:srgbClr val="1B2A55"/>
          </a:solidFill>
        </p:spPr>
        <p:txBody>
          <a:bodyPr/>
          <a:lstStyle/>
          <a:p>
            <a:endParaRPr lang="en-IN"/>
          </a:p>
        </p:txBody>
      </p:sp>
      <p:sp>
        <p:nvSpPr>
          <p:cNvPr id="6" name="Text 4"/>
          <p:cNvSpPr txBox="1"/>
          <p:nvPr/>
        </p:nvSpPr>
        <p:spPr>
          <a:xfrm>
            <a:off x="822960" y="1737360"/>
            <a:ext cx="411480" cy="411480"/>
          </a:xfrm>
          <a:prstGeom prst="rect">
            <a:avLst/>
          </a:prstGeom>
          <a:noFill/>
        </p:spPr>
        <p:txBody>
          <a:bodyPr wrap="square" lIns="0" tIns="0" rIns="0" bIns="0" rtlCol="0" anchor="ctr"/>
          <a:lstStyle/>
          <a:p>
            <a:pPr marL="0" indent="0" algn="ctr">
              <a:buNone/>
            </a:pPr>
            <a:r>
              <a:rPr lang="en-US" sz="1300" b="1" dirty="0">
                <a:solidFill>
                  <a:srgbClr val="C8A02C"/>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7" name="Text 5"/>
          <p:cNvSpPr txBox="1"/>
          <p:nvPr/>
        </p:nvSpPr>
        <p:spPr>
          <a:xfrm>
            <a:off x="1417320" y="1755648"/>
            <a:ext cx="4206240" cy="384048"/>
          </a:xfrm>
          <a:prstGeom prst="rect">
            <a:avLst/>
          </a:prstGeom>
          <a:noFill/>
        </p:spPr>
        <p:txBody>
          <a:bodyPr wrap="square" lIns="0" tIns="0" rIns="0" bIns="0" rtlCol="0" anchor="ctr"/>
          <a:lstStyle/>
          <a:p>
            <a:pPr marL="0" indent="0">
              <a:buNone/>
            </a:pPr>
            <a:r>
              <a:rPr lang="en-US" sz="1600" b="1" dirty="0">
                <a:solidFill>
                  <a:srgbClr val="1B2A55"/>
                </a:solidFill>
                <a:latin typeface="Calibri" panose="020F0502020204030204" pitchFamily="34" charset="0"/>
                <a:ea typeface="Calibri" panose="020F0502020204030204" pitchFamily="34" charset="-122"/>
                <a:cs typeface="Calibri" panose="020F0502020204030204" pitchFamily="34" charset="-120"/>
              </a:rPr>
              <a:t>Module 1 - Course Catalogue</a:t>
            </a:r>
            <a:endParaRPr lang="en-US" sz="1600" dirty="0"/>
          </a:p>
        </p:txBody>
      </p:sp>
      <p:sp>
        <p:nvSpPr>
          <p:cNvPr id="8" name="Text 6"/>
          <p:cNvSpPr txBox="1"/>
          <p:nvPr/>
        </p:nvSpPr>
        <p:spPr>
          <a:xfrm>
            <a:off x="822960" y="2331720"/>
            <a:ext cx="4800600" cy="914400"/>
          </a:xfrm>
          <a:prstGeom prst="rect">
            <a:avLst/>
          </a:prstGeom>
          <a:noFill/>
        </p:spPr>
        <p:txBody>
          <a:bodyPr wrap="square" lIns="0" tIns="0" rIns="0" bIns="0" rtlCol="0" anchor="ctr"/>
          <a:lstStyle/>
          <a:p>
            <a:r>
              <a:rPr lang="en-IN" sz="1400" dirty="0"/>
              <a:t>The bundled courses.json stores course ID, title, description, skills, year and prerequisite IDs. The current prototype uses sample course data rather than a live Coursera/Udemy feed.</a:t>
            </a:r>
            <a:endParaRPr lang="en-IN" sz="1400" dirty="0"/>
          </a:p>
          <a:p>
            <a:pPr marL="0" indent="0">
              <a:buNone/>
            </a:pPr>
            <a:endParaRPr lang="en-US" sz="1300" dirty="0"/>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10" name="Shape 8"/>
          <p:cNvSpPr/>
          <p:nvPr/>
        </p:nvSpPr>
        <p:spPr>
          <a:xfrm>
            <a:off x="6492240" y="1737360"/>
            <a:ext cx="411480" cy="411480"/>
          </a:xfrm>
          <a:prstGeom prst="ellipse">
            <a:avLst/>
          </a:prstGeom>
          <a:solidFill>
            <a:srgbClr val="1B2A55"/>
          </a:solidFill>
        </p:spPr>
        <p:txBody>
          <a:bodyPr/>
          <a:lstStyle/>
          <a:p>
            <a:endParaRPr lang="en-IN"/>
          </a:p>
        </p:txBody>
      </p:sp>
      <p:sp>
        <p:nvSpPr>
          <p:cNvPr id="11" name="Text 9"/>
          <p:cNvSpPr txBox="1"/>
          <p:nvPr/>
        </p:nvSpPr>
        <p:spPr>
          <a:xfrm>
            <a:off x="6492240" y="1737360"/>
            <a:ext cx="411480" cy="411480"/>
          </a:xfrm>
          <a:prstGeom prst="rect">
            <a:avLst/>
          </a:prstGeom>
          <a:noFill/>
        </p:spPr>
        <p:txBody>
          <a:bodyPr wrap="square" lIns="0" tIns="0" rIns="0" bIns="0" rtlCol="0" anchor="ctr"/>
          <a:lstStyle/>
          <a:p>
            <a:pPr marL="0" indent="0" algn="ctr">
              <a:buNone/>
            </a:pPr>
            <a:r>
              <a:rPr lang="en-US" sz="1300" b="1" dirty="0">
                <a:solidFill>
                  <a:srgbClr val="C8A02C"/>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2" name="Text 10"/>
          <p:cNvSpPr txBox="1"/>
          <p:nvPr/>
        </p:nvSpPr>
        <p:spPr>
          <a:xfrm>
            <a:off x="7086600" y="1755648"/>
            <a:ext cx="4206240" cy="384048"/>
          </a:xfrm>
          <a:prstGeom prst="rect">
            <a:avLst/>
          </a:prstGeom>
          <a:noFill/>
        </p:spPr>
        <p:txBody>
          <a:bodyPr wrap="square" lIns="0" tIns="0" rIns="0" bIns="0" rtlCol="0" anchor="ctr"/>
          <a:lstStyle/>
          <a:p>
            <a:pPr marL="0" indent="0">
              <a:buNone/>
            </a:pPr>
            <a:r>
              <a:rPr lang="en-US" sz="1600" b="1" dirty="0">
                <a:solidFill>
                  <a:srgbClr val="1B2A55"/>
                </a:solidFill>
                <a:latin typeface="Calibri" panose="020F0502020204030204" pitchFamily="34" charset="0"/>
                <a:ea typeface="Calibri" panose="020F0502020204030204" pitchFamily="34" charset="-122"/>
                <a:cs typeface="Calibri" panose="020F0502020204030204" pitchFamily="34" charset="-120"/>
              </a:rPr>
              <a:t>Module 2 - Profile &amp; Text Processing</a:t>
            </a:r>
            <a:endParaRPr lang="en-US" sz="1600" dirty="0"/>
          </a:p>
        </p:txBody>
      </p:sp>
      <p:sp>
        <p:nvSpPr>
          <p:cNvPr id="13" name="Text 11"/>
          <p:cNvSpPr txBox="1"/>
          <p:nvPr/>
        </p:nvSpPr>
        <p:spPr>
          <a:xfrm>
            <a:off x="6492240" y="2331720"/>
            <a:ext cx="4800600" cy="914400"/>
          </a:xfrm>
          <a:prstGeom prst="rect">
            <a:avLst/>
          </a:prstGeom>
          <a:noFill/>
        </p:spPr>
        <p:txBody>
          <a:bodyPr wrap="square" lIns="0" tIns="0" rIns="0" bIns="0" rtlCol="0" anchor="ctr"/>
          <a:lstStyle/>
          <a:p>
            <a:r>
              <a:rPr lang="en-IN" sz="1400" dirty="0"/>
              <a:t>The learner profile combines stated interests, skills and titles of completed prerequisite courses. TfidfVectorizer removes English stop words and uses one- and two-word phrases.</a:t>
            </a:r>
            <a:endParaRPr lang="en-US" sz="1300" dirty="0"/>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15" name="Shape 13"/>
          <p:cNvSpPr/>
          <p:nvPr/>
        </p:nvSpPr>
        <p:spPr>
          <a:xfrm>
            <a:off x="822960" y="3977640"/>
            <a:ext cx="411480" cy="411480"/>
          </a:xfrm>
          <a:prstGeom prst="ellipse">
            <a:avLst/>
          </a:prstGeom>
          <a:solidFill>
            <a:srgbClr val="1B2A55"/>
          </a:solidFill>
        </p:spPr>
        <p:txBody>
          <a:bodyPr/>
          <a:lstStyle/>
          <a:p>
            <a:endParaRPr lang="en-IN"/>
          </a:p>
        </p:txBody>
      </p:sp>
      <p:sp>
        <p:nvSpPr>
          <p:cNvPr id="16" name="Text 14"/>
          <p:cNvSpPr txBox="1"/>
          <p:nvPr/>
        </p:nvSpPr>
        <p:spPr>
          <a:xfrm>
            <a:off x="822960" y="3977640"/>
            <a:ext cx="411480" cy="411480"/>
          </a:xfrm>
          <a:prstGeom prst="rect">
            <a:avLst/>
          </a:prstGeom>
          <a:noFill/>
        </p:spPr>
        <p:txBody>
          <a:bodyPr wrap="square" lIns="0" tIns="0" rIns="0" bIns="0" rtlCol="0" anchor="ctr"/>
          <a:lstStyle/>
          <a:p>
            <a:pPr marL="0" indent="0" algn="ctr">
              <a:buNone/>
            </a:pPr>
            <a:r>
              <a:rPr lang="en-US" sz="1300" b="1" dirty="0">
                <a:solidFill>
                  <a:srgbClr val="C8A02C"/>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7" name="Text 15"/>
          <p:cNvSpPr txBox="1"/>
          <p:nvPr/>
        </p:nvSpPr>
        <p:spPr>
          <a:xfrm>
            <a:off x="1417320" y="3995928"/>
            <a:ext cx="4206240" cy="384048"/>
          </a:xfrm>
          <a:prstGeom prst="rect">
            <a:avLst/>
          </a:prstGeom>
          <a:noFill/>
        </p:spPr>
        <p:txBody>
          <a:bodyPr wrap="square" lIns="0" tIns="0" rIns="0" bIns="0" rtlCol="0" anchor="ctr"/>
          <a:lstStyle/>
          <a:p>
            <a:pPr marL="0" indent="0">
              <a:buNone/>
            </a:pPr>
            <a:r>
              <a:rPr lang="en-US" sz="1600" b="1" dirty="0">
                <a:solidFill>
                  <a:srgbClr val="1B2A55"/>
                </a:solidFill>
                <a:latin typeface="Calibri" panose="020F0502020204030204" pitchFamily="34" charset="0"/>
                <a:ea typeface="Calibri" panose="020F0502020204030204" pitchFamily="34" charset="-122"/>
                <a:cs typeface="Calibri" panose="020F0502020204030204" pitchFamily="34" charset="-120"/>
              </a:rPr>
              <a:t>Module 3 - Ranking Logic</a:t>
            </a:r>
            <a:endParaRPr lang="en-US" sz="1600" dirty="0"/>
          </a:p>
        </p:txBody>
      </p:sp>
      <p:sp>
        <p:nvSpPr>
          <p:cNvPr id="18" name="Text 16"/>
          <p:cNvSpPr txBox="1"/>
          <p:nvPr/>
        </p:nvSpPr>
        <p:spPr>
          <a:xfrm>
            <a:off x="822960" y="4572000"/>
            <a:ext cx="4800600" cy="914400"/>
          </a:xfrm>
          <a:prstGeom prst="rect">
            <a:avLst/>
          </a:prstGeom>
          <a:noFill/>
        </p:spPr>
        <p:txBody>
          <a:bodyPr wrap="square" lIns="0" tIns="0" rIns="0" bIns="0" rtlCol="0" anchor="ctr"/>
          <a:lstStyle/>
          <a:p>
            <a:r>
              <a:rPr lang="en-IN" sz="1400" dirty="0"/>
              <a:t>Cosine similarity compares the learner vector with each course vector. Scores are ranked; a small bonus is added when all listed prerequisites are completed.</a:t>
            </a:r>
            <a:endParaRPr lang="en-US" sz="1300" dirty="0"/>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20" name="Shape 18"/>
          <p:cNvSpPr/>
          <p:nvPr/>
        </p:nvSpPr>
        <p:spPr>
          <a:xfrm>
            <a:off x="6492240" y="3977640"/>
            <a:ext cx="411480" cy="411480"/>
          </a:xfrm>
          <a:prstGeom prst="ellipse">
            <a:avLst/>
          </a:prstGeom>
          <a:solidFill>
            <a:srgbClr val="1B2A55"/>
          </a:solidFill>
        </p:spPr>
        <p:txBody>
          <a:bodyPr/>
          <a:lstStyle/>
          <a:p>
            <a:endParaRPr lang="en-IN"/>
          </a:p>
        </p:txBody>
      </p:sp>
      <p:sp>
        <p:nvSpPr>
          <p:cNvPr id="21" name="Text 19"/>
          <p:cNvSpPr txBox="1"/>
          <p:nvPr/>
        </p:nvSpPr>
        <p:spPr>
          <a:xfrm>
            <a:off x="6492240" y="3977640"/>
            <a:ext cx="411480" cy="411480"/>
          </a:xfrm>
          <a:prstGeom prst="rect">
            <a:avLst/>
          </a:prstGeom>
          <a:noFill/>
        </p:spPr>
        <p:txBody>
          <a:bodyPr wrap="square" lIns="0" tIns="0" rIns="0" bIns="0" rtlCol="0" anchor="ctr"/>
          <a:lstStyle/>
          <a:p>
            <a:pPr marL="0" indent="0" algn="ctr">
              <a:buNone/>
            </a:pPr>
            <a:r>
              <a:rPr lang="en-US" sz="1300" b="1" dirty="0">
                <a:solidFill>
                  <a:srgbClr val="C8A02C"/>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22" name="Text 20"/>
          <p:cNvSpPr txBox="1"/>
          <p:nvPr/>
        </p:nvSpPr>
        <p:spPr>
          <a:xfrm>
            <a:off x="7086600" y="3995928"/>
            <a:ext cx="4206240" cy="384048"/>
          </a:xfrm>
          <a:prstGeom prst="rect">
            <a:avLst/>
          </a:prstGeom>
          <a:noFill/>
        </p:spPr>
        <p:txBody>
          <a:bodyPr wrap="square" lIns="0" tIns="0" rIns="0" bIns="0" rtlCol="0" anchor="ctr"/>
          <a:lstStyle/>
          <a:p>
            <a:pPr marL="0" indent="0">
              <a:buNone/>
            </a:pPr>
            <a:r>
              <a:rPr lang="en-US" sz="1600" b="1" dirty="0">
                <a:solidFill>
                  <a:srgbClr val="1B2A55"/>
                </a:solidFill>
                <a:latin typeface="Calibri" panose="020F0502020204030204" pitchFamily="34" charset="0"/>
                <a:ea typeface="Calibri" panose="020F0502020204030204" pitchFamily="34" charset="-122"/>
                <a:cs typeface="Calibri" panose="020F0502020204030204" pitchFamily="34" charset="-120"/>
              </a:rPr>
              <a:t>Module 4 - Web Interface</a:t>
            </a:r>
            <a:endParaRPr lang="en-US" sz="1600" dirty="0"/>
          </a:p>
        </p:txBody>
      </p:sp>
      <p:sp>
        <p:nvSpPr>
          <p:cNvPr id="23" name="Text 21"/>
          <p:cNvSpPr txBox="1"/>
          <p:nvPr/>
        </p:nvSpPr>
        <p:spPr>
          <a:xfrm>
            <a:off x="6492240" y="4572000"/>
            <a:ext cx="4800600" cy="914400"/>
          </a:xfrm>
          <a:prstGeom prst="rect">
            <a:avLst/>
          </a:prstGeom>
          <a:noFill/>
        </p:spPr>
        <p:txBody>
          <a:bodyPr wrap="square" lIns="0" tIns="0" rIns="0" bIns="0" rtlCol="0" anchor="ctr"/>
          <a:lstStyle/>
          <a:p>
            <a:endParaRPr lang="en-IN" sz="1400" b="1" dirty="0"/>
          </a:p>
          <a:p>
            <a:r>
              <a:rPr lang="en-IN" sz="1400" b="1" dirty="0"/>
              <a:t>Frontend: HTML, CSS and JavaScript
Backend: Python Flask
The UI supports login details, year selection, course search, prerequisite selection and recommendation cards with match explanations.</a:t>
            </a:r>
            <a:br>
              <a:rPr lang="en-IN" sz="1400" dirty="0"/>
            </a:br>
            <a:br>
              <a:rPr lang="en-IN" sz="1400" dirty="0"/>
            </a:br>
            <a:endParaRPr lang="en-US" sz="1300" dirty="0"/>
          </a:p>
        </p:txBody>
      </p:sp>
      <p:sp>
        <p:nvSpPr>
          <p:cNvPr id="24" name="Text 22"/>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8</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68680" y="1691640"/>
            <a:ext cx="4709160" cy="320040"/>
          </a:xfrm>
          <a:prstGeom prst="rect">
            <a:avLst/>
          </a:prstGeom>
          <a:noFill/>
        </p:spPr>
        <p:txBody>
          <a:bodyPr wrap="square" lIns="0" tIns="0" rIns="0" bIns="0" rtlCol="0" anchor="ctr"/>
          <a:lstStyle/>
          <a:p>
            <a:pPr marL="0" indent="0">
              <a:buNone/>
            </a:pPr>
            <a:r>
              <a:rPr lang="en-US" sz="1200" b="1" kern="0" spc="180" dirty="0">
                <a:solidFill>
                  <a:srgbClr val="C8A02C"/>
                </a:solidFill>
                <a:latin typeface="Calibri" panose="020F0502020204030204" pitchFamily="34" charset="0"/>
                <a:ea typeface="Calibri" panose="020F0502020204030204" pitchFamily="34" charset="-122"/>
                <a:cs typeface="Calibri" panose="020F0502020204030204" pitchFamily="34" charset="-120"/>
              </a:rPr>
              <a:t>SOFTWARE</a:t>
            </a:r>
            <a:endParaRPr lang="en-US" sz="1200" dirty="0"/>
          </a:p>
        </p:txBody>
      </p:sp>
      <p:sp>
        <p:nvSpPr>
          <p:cNvPr id="6" name="Text 4"/>
          <p:cNvSpPr txBox="1"/>
          <p:nvPr/>
        </p:nvSpPr>
        <p:spPr>
          <a:xfrm>
            <a:off x="868680" y="2103120"/>
            <a:ext cx="4709160" cy="3200400"/>
          </a:xfrm>
          <a:prstGeom prst="rect">
            <a:avLst/>
          </a:prstGeom>
          <a:noFill/>
        </p:spPr>
        <p:txBody>
          <a:bodyPr wrap="square" lIns="0" tIns="0" rIns="0" bIns="0" rtlCol="0" anchor="ctr"/>
          <a:lstStyle/>
          <a:p>
            <a:pPr lvl="0"/>
            <a:endParaRPr lang="en-IN" sz="2000" b="1" dirty="0"/>
          </a:p>
          <a:p>
            <a:pPr lvl="0"/>
            <a:endParaRPr lang="en-IN" sz="2000" b="1" dirty="0"/>
          </a:p>
          <a:p>
            <a:pPr lvl="0"/>
            <a:endParaRPr lang="en-IN" sz="2000" b="1" dirty="0"/>
          </a:p>
          <a:p>
            <a:pPr lvl="0"/>
            <a:endParaRPr lang="en-IN" sz="2000" b="1" dirty="0"/>
          </a:p>
          <a:p>
            <a:pPr lvl="0"/>
            <a:r>
              <a:rPr lang="en-IN" sz="2000" b="1" dirty="0"/>
              <a:t>Language: Python
Backend framework: Flask 3.1.2
ML / text: scikit-learn (TfidfVectorizer, cosine_similarity)
Data: JSON file (courses.json)
Frontend: HTML, CSS, JavaScript
Browser storage: LocalStorage for learner/university name
IDE: VS Code
Dependencies: requirements.txt</a:t>
            </a:r>
            <a:endParaRPr lang="en-IN" sz="2000" b="1" dirty="0"/>
          </a:p>
          <a:p>
            <a:pPr lvl="0"/>
          </a:p>
          <a:p>
            <a:pPr lvl="0"/>
          </a:p>
          <a:p>
            <a:pPr lvl="0"/>
          </a:p>
          <a:p>
            <a:pPr lvl="0"/>
          </a:p>
          <a:p>
            <a:pPr lvl="0"/>
          </a:p>
          <a:p>
            <a:pPr lvl="0"/>
          </a:p>
          <a:p>
            <a:pPr marL="342900" indent="-342900">
              <a:spcAft>
                <a:spcPts val="1000"/>
              </a:spcAft>
              <a:buSzPct val="100000"/>
              <a:buChar char="•"/>
            </a:pPr>
            <a:endParaRPr lang="en-US" sz="1350" dirty="0"/>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txBody>
          <a:bodyPr/>
          <a:lstStyle/>
          <a:p>
            <a:endParaRPr lang="en-IN"/>
          </a:p>
        </p:txBody>
      </p:sp>
      <p:sp>
        <p:nvSpPr>
          <p:cNvPr id="8" name="Text 6"/>
          <p:cNvSpPr txBox="1"/>
          <p:nvPr/>
        </p:nvSpPr>
        <p:spPr>
          <a:xfrm>
            <a:off x="6537960" y="1691640"/>
            <a:ext cx="4709160" cy="320040"/>
          </a:xfrm>
          <a:prstGeom prst="rect">
            <a:avLst/>
          </a:prstGeom>
          <a:noFill/>
        </p:spPr>
        <p:txBody>
          <a:bodyPr wrap="square" lIns="0" tIns="0" rIns="0" bIns="0" rtlCol="0" anchor="ctr"/>
          <a:lstStyle/>
          <a:p>
            <a:pPr marL="0" indent="0">
              <a:buNone/>
            </a:pPr>
            <a:r>
              <a:rPr lang="en-US" sz="1200" b="1" kern="0" spc="180" dirty="0">
                <a:solidFill>
                  <a:srgbClr val="C8A02C"/>
                </a:solidFill>
                <a:latin typeface="Calibri" panose="020F0502020204030204" pitchFamily="34" charset="0"/>
                <a:ea typeface="Calibri" panose="020F0502020204030204" pitchFamily="34" charset="-122"/>
                <a:cs typeface="Calibri" panose="020F0502020204030204"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p:spPr>
        <p:txBody>
          <a:bodyPr wrap="square" lIns="0" tIns="0" rIns="0" bIns="0" rtlCol="0" anchor="ctr"/>
          <a:lstStyle/>
          <a:p>
            <a:pPr lvl="0"/>
            <a:endParaRPr lang="en-IN" sz="2000" b="1" dirty="0"/>
          </a:p>
          <a:p>
            <a:pPr lvl="0"/>
            <a:endParaRPr lang="en-IN" sz="2000" b="1" dirty="0"/>
          </a:p>
          <a:p>
            <a:pPr lvl="0"/>
            <a:endParaRPr lang="en-IN" sz="2000" b="1" dirty="0"/>
          </a:p>
          <a:p>
            <a:pPr lvl="0"/>
            <a:r>
              <a:rPr lang="en-IN" sz="2000" b="1" dirty="0"/>
              <a:t>Platform: Windows / Linux / macOS
Runtime: Python 3.10+ recommended
RAM: 4–8 GB recommended
Deployment: Localhost (127.0.0.1:5000)
Network: Not required for local demo after setup
Data source: Bundled sample course catalogue
Future extension: Import a verified Coursera/Udemy course dataset</a:t>
            </a:r>
            <a:endParaRPr lang="en-IN" sz="2000" b="1" dirty="0"/>
          </a:p>
          <a:p>
            <a:pPr lvl="0"/>
          </a:p>
          <a:p>
            <a:pPr lvl="0"/>
          </a:p>
          <a:p>
            <a:pPr lvl="0"/>
          </a:p>
          <a:p>
            <a:pPr lvl="0"/>
          </a:p>
          <a:p>
            <a:pPr lvl="0"/>
            <a:endParaRPr lang="en-IN" sz="2000" dirty="0"/>
          </a:p>
        </p:txBody>
      </p:sp>
      <p:sp>
        <p:nvSpPr>
          <p:cNvPr id="10" name="Text 8"/>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9</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Work Completed / Demo</a:t>
            </a:r>
            <a:endParaRPr lang="en-US" sz="3100" dirty="0"/>
          </a:p>
        </p:txBody>
      </p:sp>
      <p:sp>
        <p:nvSpPr>
          <p:cNvPr id="4" name="Shape 2"/>
          <p:cNvSpPr/>
          <p:nvPr/>
        </p:nvSpPr>
        <p:spPr>
          <a:xfrm>
            <a:off x="548640" y="1463040"/>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777240" y="1655064"/>
            <a:ext cx="182880" cy="182880"/>
          </a:xfrm>
          <a:prstGeom prst="ellipse">
            <a:avLst/>
          </a:prstGeom>
          <a:solidFill>
            <a:srgbClr val="1E7A46"/>
          </a:solidFill>
        </p:spPr>
        <p:txBody>
          <a:bodyPr/>
          <a:lstStyle/>
          <a:p>
            <a:endParaRPr lang="en-IN"/>
          </a:p>
        </p:txBody>
      </p:sp>
      <p:sp>
        <p:nvSpPr>
          <p:cNvPr id="6" name="Text 4"/>
          <p:cNvSpPr txBox="1"/>
          <p:nvPr/>
        </p:nvSpPr>
        <p:spPr>
          <a:xfrm>
            <a:off x="1097280" y="1463040"/>
            <a:ext cx="3291840" cy="566928"/>
          </a:xfrm>
          <a:prstGeom prst="rect">
            <a:avLst/>
          </a:prstGeom>
          <a:noFill/>
        </p:spPr>
        <p:txBody>
          <a:bodyPr wrap="square" lIns="0" tIns="0" rIns="0" bIns="0" rtlCol="0" anchor="ctr"/>
          <a:lstStyle/>
          <a:p>
            <a:pPr marL="0" indent="0">
              <a:buNone/>
            </a:pPr>
            <a:r>
              <a:rPr lang="en-US" sz="1350" dirty="0">
                <a:solidFill>
                  <a:srgbClr val="1F2430"/>
                </a:solidFill>
                <a:latin typeface="Calibri" panose="020F0502020204030204" pitchFamily="34" charset="0"/>
                <a:ea typeface="Calibri" panose="020F0502020204030204" pitchFamily="34" charset="-122"/>
                <a:cs typeface="Calibri" panose="020F0502020204030204" pitchFamily="34" charset="-120"/>
              </a:rPr>
              <a:t>Content-based method review</a:t>
            </a:r>
            <a:endParaRPr lang="en-US" sz="1350" dirty="0"/>
          </a:p>
        </p:txBody>
      </p:sp>
      <p:sp>
        <p:nvSpPr>
          <p:cNvPr id="7" name="Text 5"/>
          <p:cNvSpPr txBox="1"/>
          <p:nvPr/>
        </p:nvSpPr>
        <p:spPr>
          <a:xfrm>
            <a:off x="4480560" y="1463040"/>
            <a:ext cx="1691640" cy="566928"/>
          </a:xfrm>
          <a:prstGeom prst="rect">
            <a:avLst/>
          </a:prstGeom>
          <a:noFill/>
        </p:spPr>
        <p:txBody>
          <a:bodyPr wrap="square" lIns="0" tIns="0" rIns="0" bIns="0" rtlCol="0" anchor="ctr"/>
          <a:lstStyle/>
          <a:p>
            <a:pPr marL="0" indent="0" algn="r">
              <a:buNone/>
            </a:pPr>
            <a:r>
              <a:rPr lang="en-US" sz="1200" b="1" dirty="0">
                <a:solidFill>
                  <a:srgbClr val="00B050"/>
                </a:solidFill>
                <a:latin typeface="Calibri" panose="020F0502020204030204" pitchFamily="34" charset="0"/>
                <a:ea typeface="Calibri" panose="020F0502020204030204" pitchFamily="34" charset="-122"/>
                <a:cs typeface="Calibri" panose="020F0502020204030204" pitchFamily="34" charset="-120"/>
              </a:rPr>
              <a:t>Implemented</a:t>
            </a:r>
            <a:endParaRPr lang="en-US" sz="1200" dirty="0">
              <a:solidFill>
                <a:srgbClr val="00B050"/>
              </a:solidFill>
            </a:endParaRPr>
          </a:p>
        </p:txBody>
      </p:sp>
      <p:sp>
        <p:nvSpPr>
          <p:cNvPr id="8" name="Shape 6"/>
          <p:cNvSpPr/>
          <p:nvPr/>
        </p:nvSpPr>
        <p:spPr>
          <a:xfrm>
            <a:off x="548640" y="2176272"/>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77240" y="2368296"/>
            <a:ext cx="182880" cy="182880"/>
          </a:xfrm>
          <a:prstGeom prst="ellipse">
            <a:avLst/>
          </a:prstGeom>
          <a:solidFill>
            <a:srgbClr val="1E7A46"/>
          </a:solidFill>
        </p:spPr>
        <p:txBody>
          <a:bodyPr/>
          <a:lstStyle/>
          <a:p>
            <a:endParaRPr lang="en-IN"/>
          </a:p>
        </p:txBody>
      </p:sp>
      <p:sp>
        <p:nvSpPr>
          <p:cNvPr id="10" name="Text 8"/>
          <p:cNvSpPr txBox="1"/>
          <p:nvPr/>
        </p:nvSpPr>
        <p:spPr>
          <a:xfrm>
            <a:off x="1097280" y="2176272"/>
            <a:ext cx="3291840" cy="566928"/>
          </a:xfrm>
          <a:prstGeom prst="rect">
            <a:avLst/>
          </a:prstGeom>
          <a:noFill/>
        </p:spPr>
        <p:txBody>
          <a:bodyPr wrap="square" lIns="0" tIns="0" rIns="0" bIns="0" rtlCol="0" anchor="ctr"/>
          <a:lstStyle/>
          <a:p>
            <a:pPr marL="0" indent="0">
              <a:buNone/>
            </a:pPr>
            <a:r>
              <a:rPr lang="en-US" sz="1350" dirty="0">
                <a:solidFill>
                  <a:srgbClr val="1F2430"/>
                </a:solidFill>
                <a:latin typeface="Calibri" panose="020F0502020204030204" pitchFamily="34" charset="0"/>
                <a:ea typeface="Calibri" panose="020F0502020204030204" pitchFamily="34" charset="-122"/>
                <a:cs typeface="Calibri" panose="020F0502020204030204" pitchFamily="34" charset="-120"/>
              </a:rPr>
              <a:t>Course catalogue (JSON)</a:t>
            </a:r>
            <a:endParaRPr lang="en-US" sz="1350" dirty="0"/>
          </a:p>
        </p:txBody>
      </p:sp>
      <p:sp>
        <p:nvSpPr>
          <p:cNvPr id="11" name="Text 9"/>
          <p:cNvSpPr txBox="1"/>
          <p:nvPr/>
        </p:nvSpPr>
        <p:spPr>
          <a:xfrm>
            <a:off x="4480560" y="2176272"/>
            <a:ext cx="1691640" cy="566928"/>
          </a:xfrm>
          <a:prstGeom prst="rect">
            <a:avLst/>
          </a:prstGeom>
          <a:noFill/>
        </p:spPr>
        <p:txBody>
          <a:bodyPr wrap="square" lIns="0" tIns="0" rIns="0" bIns="0" rtlCol="0" anchor="ctr"/>
          <a:lstStyle/>
          <a:p>
            <a:pPr marL="0" indent="0" algn="r">
              <a:buNone/>
            </a:pPr>
            <a:r>
              <a:rPr lang="en-US" sz="1200" b="1" dirty="0">
                <a:solidFill>
                  <a:srgbClr val="00B050"/>
                </a:solidFill>
                <a:latin typeface="Calibri" panose="020F0502020204030204" pitchFamily="34" charset="0"/>
                <a:ea typeface="Calibri" panose="020F0502020204030204" pitchFamily="34" charset="-122"/>
                <a:cs typeface="Calibri" panose="020F0502020204030204" pitchFamily="34" charset="-120"/>
              </a:rPr>
              <a:t>Implemented</a:t>
            </a:r>
            <a:endParaRPr lang="en-US" sz="1200" dirty="0">
              <a:solidFill>
                <a:srgbClr val="00B050"/>
              </a:solidFill>
            </a:endParaRPr>
          </a:p>
        </p:txBody>
      </p:sp>
      <p:sp>
        <p:nvSpPr>
          <p:cNvPr id="12" name="Shape 10"/>
          <p:cNvSpPr/>
          <p:nvPr/>
        </p:nvSpPr>
        <p:spPr>
          <a:xfrm>
            <a:off x="548640" y="2889504"/>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13" name="Shape 11"/>
          <p:cNvSpPr/>
          <p:nvPr/>
        </p:nvSpPr>
        <p:spPr>
          <a:xfrm>
            <a:off x="777240" y="3081528"/>
            <a:ext cx="182880" cy="182880"/>
          </a:xfrm>
          <a:prstGeom prst="ellipse">
            <a:avLst/>
          </a:prstGeom>
          <a:solidFill>
            <a:srgbClr val="C8A02C"/>
          </a:solidFill>
        </p:spPr>
        <p:txBody>
          <a:bodyPr/>
          <a:lstStyle/>
          <a:p>
            <a:endParaRPr lang="en-IN">
              <a:solidFill>
                <a:schemeClr val="accent6">
                  <a:lumMod val="75000"/>
                </a:schemeClr>
              </a:solidFill>
            </a:endParaRPr>
          </a:p>
        </p:txBody>
      </p:sp>
      <p:sp>
        <p:nvSpPr>
          <p:cNvPr id="14" name="Text 12"/>
          <p:cNvSpPr txBox="1"/>
          <p:nvPr/>
        </p:nvSpPr>
        <p:spPr>
          <a:xfrm>
            <a:off x="1097280" y="2889504"/>
            <a:ext cx="3291840" cy="566928"/>
          </a:xfrm>
          <a:prstGeom prst="rect">
            <a:avLst/>
          </a:prstGeom>
          <a:noFill/>
        </p:spPr>
        <p:txBody>
          <a:bodyPr wrap="square" lIns="0" tIns="0" rIns="0" bIns="0" rtlCol="0" anchor="ctr"/>
          <a:lstStyle/>
          <a:p>
            <a:pPr marL="0" indent="0">
              <a:buNone/>
            </a:pPr>
            <a:r>
              <a:rPr lang="en-US" sz="1350" dirty="0">
                <a:solidFill>
                  <a:srgbClr val="1F2430"/>
                </a:solidFill>
                <a:latin typeface="Calibri" panose="020F0502020204030204" pitchFamily="34" charset="0"/>
                <a:ea typeface="Calibri" panose="020F0502020204030204" pitchFamily="34" charset="-122"/>
                <a:cs typeface="Calibri" panose="020F0502020204030204" pitchFamily="34" charset="-120"/>
              </a:rPr>
              <a:t>TF-IDF feature pipeline</a:t>
            </a:r>
            <a:endParaRPr lang="en-US" sz="1350" dirty="0"/>
          </a:p>
        </p:txBody>
      </p:sp>
      <p:sp>
        <p:nvSpPr>
          <p:cNvPr id="15" name="Text 13"/>
          <p:cNvSpPr txBox="1"/>
          <p:nvPr/>
        </p:nvSpPr>
        <p:spPr>
          <a:xfrm>
            <a:off x="4480560" y="2889504"/>
            <a:ext cx="1691640" cy="566928"/>
          </a:xfrm>
          <a:prstGeom prst="rect">
            <a:avLst/>
          </a:prstGeom>
          <a:noFill/>
        </p:spPr>
        <p:txBody>
          <a:bodyPr wrap="square" lIns="0" tIns="0" rIns="0" bIns="0" rtlCol="0" anchor="ctr"/>
          <a:lstStyle/>
          <a:p>
            <a:pPr marL="0" indent="0" algn="r">
              <a:buNone/>
            </a:pPr>
            <a:r>
              <a:rPr lang="en-US" sz="1200" b="1" dirty="0">
                <a:solidFill>
                  <a:srgbClr val="00B050"/>
                </a:solidFill>
                <a:latin typeface="Calibri" panose="020F0502020204030204" pitchFamily="34" charset="0"/>
                <a:ea typeface="Calibri" panose="020F0502020204030204" pitchFamily="34" charset="-122"/>
                <a:cs typeface="Calibri" panose="020F0502020204030204" pitchFamily="34" charset="-120"/>
              </a:rPr>
              <a:t>Implemented</a:t>
            </a:r>
            <a:endParaRPr lang="en-US" sz="1200" dirty="0">
              <a:solidFill>
                <a:srgbClr val="00B050"/>
              </a:solidFill>
            </a:endParaRPr>
          </a:p>
        </p:txBody>
      </p:sp>
      <p:sp>
        <p:nvSpPr>
          <p:cNvPr id="16" name="Shape 14"/>
          <p:cNvSpPr/>
          <p:nvPr/>
        </p:nvSpPr>
        <p:spPr>
          <a:xfrm>
            <a:off x="548640" y="3602736"/>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17" name="Shape 15"/>
          <p:cNvSpPr/>
          <p:nvPr/>
        </p:nvSpPr>
        <p:spPr>
          <a:xfrm>
            <a:off x="777240" y="3794760"/>
            <a:ext cx="182880" cy="182880"/>
          </a:xfrm>
          <a:prstGeom prst="ellipse">
            <a:avLst/>
          </a:prstGeom>
          <a:solidFill>
            <a:srgbClr val="C8A02C"/>
          </a:solidFill>
        </p:spPr>
        <p:txBody>
          <a:bodyPr/>
          <a:lstStyle/>
          <a:p>
            <a:endParaRPr lang="en-IN"/>
          </a:p>
        </p:txBody>
      </p:sp>
      <p:sp>
        <p:nvSpPr>
          <p:cNvPr id="18" name="Text 16"/>
          <p:cNvSpPr txBox="1"/>
          <p:nvPr/>
        </p:nvSpPr>
        <p:spPr>
          <a:xfrm>
            <a:off x="1097280" y="3602736"/>
            <a:ext cx="3291840" cy="566928"/>
          </a:xfrm>
          <a:prstGeom prst="rect">
            <a:avLst/>
          </a:prstGeom>
          <a:noFill/>
        </p:spPr>
        <p:txBody>
          <a:bodyPr wrap="square" lIns="0" tIns="0" rIns="0" bIns="0" rtlCol="0" anchor="ctr"/>
          <a:lstStyle/>
          <a:p>
            <a:pPr marL="0" indent="0">
              <a:buNone/>
            </a:pPr>
            <a:r>
              <a:rPr lang="en-US" sz="1350" dirty="0">
                <a:solidFill>
                  <a:srgbClr val="1F2430"/>
                </a:solidFill>
                <a:latin typeface="Calibri" panose="020F0502020204030204" pitchFamily="34" charset="0"/>
                <a:ea typeface="Calibri" panose="020F0502020204030204" pitchFamily="34" charset="-122"/>
                <a:cs typeface="Calibri" panose="020F0502020204030204" pitchFamily="34" charset="-120"/>
              </a:rPr>
              <a:t>Similarity ranking engine</a:t>
            </a:r>
            <a:endParaRPr lang="en-US" sz="1350" dirty="0"/>
          </a:p>
        </p:txBody>
      </p:sp>
      <p:sp>
        <p:nvSpPr>
          <p:cNvPr id="19" name="Text 17"/>
          <p:cNvSpPr txBox="1"/>
          <p:nvPr/>
        </p:nvSpPr>
        <p:spPr>
          <a:xfrm>
            <a:off x="4480560" y="3602736"/>
            <a:ext cx="1691640" cy="566928"/>
          </a:xfrm>
          <a:prstGeom prst="rect">
            <a:avLst/>
          </a:prstGeom>
          <a:noFill/>
        </p:spPr>
        <p:txBody>
          <a:bodyPr wrap="square" lIns="0" tIns="0" rIns="0" bIns="0" rtlCol="0" anchor="ctr"/>
          <a:lstStyle/>
          <a:p>
            <a:pPr marL="0" indent="0" algn="r">
              <a:buNone/>
            </a:pPr>
            <a:r>
              <a:rPr lang="en-US" sz="1200" b="1" dirty="0">
                <a:solidFill>
                  <a:srgbClr val="00B050"/>
                </a:solidFill>
                <a:latin typeface="Calibri" panose="020F0502020204030204" pitchFamily="34" charset="0"/>
                <a:ea typeface="Calibri" panose="020F0502020204030204" pitchFamily="34" charset="-122"/>
                <a:cs typeface="Calibri" panose="020F0502020204030204" pitchFamily="34" charset="-120"/>
              </a:rPr>
              <a:t>Implemented</a:t>
            </a:r>
            <a:endParaRPr lang="en-US" sz="1200" dirty="0">
              <a:solidFill>
                <a:srgbClr val="00B050"/>
              </a:solidFill>
            </a:endParaRPr>
          </a:p>
        </p:txBody>
      </p:sp>
      <p:sp>
        <p:nvSpPr>
          <p:cNvPr id="20" name="Shape 18"/>
          <p:cNvSpPr/>
          <p:nvPr/>
        </p:nvSpPr>
        <p:spPr>
          <a:xfrm>
            <a:off x="548640" y="4315968"/>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21" name="Shape 19"/>
          <p:cNvSpPr/>
          <p:nvPr/>
        </p:nvSpPr>
        <p:spPr>
          <a:xfrm>
            <a:off x="777240" y="4507992"/>
            <a:ext cx="182880" cy="182880"/>
          </a:xfrm>
          <a:prstGeom prst="ellipse">
            <a:avLst/>
          </a:prstGeom>
          <a:solidFill>
            <a:srgbClr val="6B7280"/>
          </a:solidFill>
        </p:spPr>
        <p:txBody>
          <a:bodyPr/>
          <a:lstStyle/>
          <a:p>
            <a:endParaRPr lang="en-IN"/>
          </a:p>
        </p:txBody>
      </p:sp>
      <p:sp>
        <p:nvSpPr>
          <p:cNvPr id="22" name="Text 20"/>
          <p:cNvSpPr txBox="1"/>
          <p:nvPr/>
        </p:nvSpPr>
        <p:spPr>
          <a:xfrm>
            <a:off x="1097280" y="4315968"/>
            <a:ext cx="3291840" cy="566928"/>
          </a:xfrm>
          <a:prstGeom prst="rect">
            <a:avLst/>
          </a:prstGeom>
          <a:noFill/>
        </p:spPr>
        <p:txBody>
          <a:bodyPr wrap="square" lIns="0" tIns="0" rIns="0" bIns="0" rtlCol="0" anchor="ctr"/>
          <a:lstStyle/>
          <a:p>
            <a:pPr marL="0" indent="0">
              <a:buNone/>
            </a:pPr>
            <a:r>
              <a:rPr lang="en-US" sz="1350" dirty="0">
                <a:solidFill>
                  <a:srgbClr val="1F2430"/>
                </a:solidFill>
                <a:latin typeface="Calibri" panose="020F0502020204030204" pitchFamily="34" charset="0"/>
                <a:ea typeface="Calibri" panose="020F0502020204030204" pitchFamily="34" charset="-122"/>
                <a:cs typeface="Calibri" panose="020F0502020204030204" pitchFamily="34" charset="-120"/>
              </a:rPr>
              <a:t>Flask web UI</a:t>
            </a:r>
            <a:endParaRPr lang="en-US" sz="1350" dirty="0"/>
          </a:p>
        </p:txBody>
      </p:sp>
      <p:sp>
        <p:nvSpPr>
          <p:cNvPr id="23" name="Text 21"/>
          <p:cNvSpPr txBox="1"/>
          <p:nvPr/>
        </p:nvSpPr>
        <p:spPr>
          <a:xfrm>
            <a:off x="4480560" y="4315968"/>
            <a:ext cx="1691640" cy="566928"/>
          </a:xfrm>
          <a:prstGeom prst="rect">
            <a:avLst/>
          </a:prstGeom>
          <a:noFill/>
        </p:spPr>
        <p:txBody>
          <a:bodyPr wrap="square" lIns="0" tIns="0" rIns="0" bIns="0" rtlCol="0" anchor="ctr"/>
          <a:lstStyle/>
          <a:p>
            <a:pPr marL="0" indent="0" algn="r">
              <a:buNone/>
            </a:pPr>
            <a:r>
              <a:rPr lang="en-US" sz="1200" b="1" dirty="0">
                <a:solidFill>
                  <a:schemeClr val="accent4">
                    <a:lumMod val="75000"/>
                  </a:schemeClr>
                </a:solidFill>
                <a:latin typeface="Calibri" panose="020F0502020204030204" pitchFamily="34" charset="0"/>
                <a:ea typeface="Calibri" panose="020F0502020204030204" pitchFamily="34" charset="-122"/>
                <a:cs typeface="Calibri" panose="020F0502020204030204" pitchFamily="34" charset="-120"/>
              </a:rPr>
              <a:t>To evaluate</a:t>
            </a:r>
            <a:endParaRPr lang="en-US" sz="1200" dirty="0">
              <a:solidFill>
                <a:schemeClr val="accent4">
                  <a:lumMod val="75000"/>
                </a:schemeClr>
              </a:solidFill>
            </a:endParaRPr>
          </a:p>
        </p:txBody>
      </p:sp>
      <p:sp>
        <p:nvSpPr>
          <p:cNvPr id="24" name="Shape 22"/>
          <p:cNvSpPr/>
          <p:nvPr/>
        </p:nvSpPr>
        <p:spPr>
          <a:xfrm>
            <a:off x="548640" y="5029200"/>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25" name="Shape 23"/>
          <p:cNvSpPr/>
          <p:nvPr/>
        </p:nvSpPr>
        <p:spPr>
          <a:xfrm>
            <a:off x="777240" y="5221224"/>
            <a:ext cx="182880" cy="182880"/>
          </a:xfrm>
          <a:prstGeom prst="ellipse">
            <a:avLst/>
          </a:prstGeom>
          <a:solidFill>
            <a:srgbClr val="6B7280"/>
          </a:solidFill>
        </p:spPr>
        <p:txBody>
          <a:bodyPr/>
          <a:lstStyle/>
          <a:p>
            <a:endParaRPr lang="en-IN"/>
          </a:p>
        </p:txBody>
      </p:sp>
      <p:sp>
        <p:nvSpPr>
          <p:cNvPr id="26" name="Text 24"/>
          <p:cNvSpPr txBox="1"/>
          <p:nvPr/>
        </p:nvSpPr>
        <p:spPr>
          <a:xfrm>
            <a:off x="1097280" y="5029200"/>
            <a:ext cx="3291840" cy="566928"/>
          </a:xfrm>
          <a:prstGeom prst="rect">
            <a:avLst/>
          </a:prstGeom>
          <a:noFill/>
        </p:spPr>
        <p:txBody>
          <a:bodyPr wrap="square" lIns="0" tIns="0" rIns="0" bIns="0" rtlCol="0" anchor="ctr"/>
          <a:lstStyle/>
          <a:p>
            <a:pPr marL="0" indent="0">
              <a:buNone/>
            </a:pPr>
            <a:r>
              <a:rPr lang="en-US" sz="1350" dirty="0">
                <a:solidFill>
                  <a:srgbClr val="1F2430"/>
                </a:solidFill>
                <a:latin typeface="Calibri" panose="020F0502020204030204" pitchFamily="34" charset="0"/>
                <a:ea typeface="Calibri" panose="020F0502020204030204" pitchFamily="34" charset="-122"/>
                <a:cs typeface="Calibri" panose="020F0502020204030204" pitchFamily="34" charset="-120"/>
              </a:rPr>
              <a:t>Quantitative evaluation</a:t>
            </a:r>
            <a:endParaRPr lang="en-US" sz="1350" dirty="0"/>
          </a:p>
        </p:txBody>
      </p:sp>
      <p:sp>
        <p:nvSpPr>
          <p:cNvPr id="27" name="Text 25"/>
          <p:cNvSpPr txBox="1"/>
          <p:nvPr/>
        </p:nvSpPr>
        <p:spPr>
          <a:xfrm>
            <a:off x="4480560" y="5029200"/>
            <a:ext cx="1691640" cy="566928"/>
          </a:xfrm>
          <a:prstGeom prst="rect">
            <a:avLst/>
          </a:prstGeom>
          <a:noFill/>
        </p:spPr>
        <p:txBody>
          <a:bodyPr wrap="square" lIns="0" tIns="0" rIns="0" bIns="0" rtlCol="0" anchor="ctr"/>
          <a:lstStyle/>
          <a:p>
            <a:pPr marL="0" indent="0" algn="r">
              <a:buNone/>
            </a:pPr>
            <a:r>
              <a:rPr lang="en-US" sz="1200" b="1" dirty="0">
                <a:solidFill>
                  <a:schemeClr val="accent4">
                    <a:lumMod val="75000"/>
                  </a:schemeClr>
                </a:solidFill>
                <a:latin typeface="Calibri" panose="020F0502020204030204" pitchFamily="34" charset="0"/>
                <a:ea typeface="Calibri" panose="020F0502020204030204" pitchFamily="34" charset="-122"/>
                <a:cs typeface="Calibri" panose="020F0502020204030204" pitchFamily="34" charset="-120"/>
              </a:rPr>
              <a:t>To evaluate</a:t>
            </a:r>
            <a:endParaRPr lang="en-US" sz="1200" dirty="0">
              <a:solidFill>
                <a:schemeClr val="accent4">
                  <a:lumMod val="75000"/>
                </a:schemeClr>
              </a:solidFill>
            </a:endParaRPr>
          </a:p>
        </p:txBody>
      </p:sp>
      <p:sp>
        <p:nvSpPr>
          <p:cNvPr id="28" name="Shape 26"/>
          <p:cNvSpPr/>
          <p:nvPr/>
        </p:nvSpPr>
        <p:spPr>
          <a:xfrm>
            <a:off x="6675120" y="1463040"/>
            <a:ext cx="4937760" cy="3246120"/>
          </a:xfrm>
          <a:prstGeom prst="roundRect">
            <a:avLst>
              <a:gd name="adj" fmla="val 2254"/>
            </a:avLst>
          </a:prstGeom>
          <a:solidFill>
            <a:srgbClr val="FFFFFF"/>
          </a:solidFill>
          <a:ln w="12700">
            <a:solidFill>
              <a:srgbClr val="9AA5B8"/>
            </a:solidFill>
            <a:prstDash val="dash"/>
          </a:ln>
        </p:spPr>
        <p:txBody>
          <a:bodyPr/>
          <a:lstStyle/>
          <a:p>
            <a:endParaRPr lang="en-IN"/>
          </a:p>
        </p:txBody>
      </p:sp>
      <p:sp>
        <p:nvSpPr>
          <p:cNvPr id="29" name="Text 27"/>
          <p:cNvSpPr txBox="1"/>
          <p:nvPr/>
        </p:nvSpPr>
        <p:spPr>
          <a:xfrm>
            <a:off x="6812280" y="1463040"/>
            <a:ext cx="4663440" cy="3246120"/>
          </a:xfrm>
          <a:prstGeom prst="rect">
            <a:avLst/>
          </a:prstGeom>
          <a:noFill/>
        </p:spPr>
        <p:txBody>
          <a:bodyPr wrap="square" lIns="0" tIns="0" rIns="0" bIns="0" rtlCol="0" anchor="ctr"/>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DEMO FEATURES
• Browse courses by Year 1–4
• Search course titles / descriptions / skills
• Enter interests and skills
• See top 10 ranked matches
• View match score and “Why this course?”
• Check previous-year prerequisites</a:t>
            </a:r>
            <a:endParaRPr lang="en-US" sz="1200" dirty="0"/>
          </a:p>
          <a:p>
            <a:pPr marL="0" indent="0" algn="ctr">
              <a:buNone/>
            </a:pPr>
            <a:endParaRPr lang="en-US" sz="1200" dirty="0"/>
          </a:p>
        </p:txBody>
      </p:sp>
      <p:sp>
        <p:nvSpPr>
          <p:cNvPr id="32" name="Text 30"/>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11</a:t>
            </a:r>
            <a:endParaRPr lang="en-US" sz="950" dirty="0"/>
          </a:p>
        </p:txBody>
      </p:sp>
      <p:pic>
        <p:nvPicPr>
          <p:cNvPr id="30" name="Picture 29"/>
          <p:cNvPicPr>
            <a:picLocks noChangeAspect="1"/>
          </p:cNvPicPr>
          <p:nvPr/>
        </p:nvPicPr>
        <p:blipFill>
          <a:blip r:embed="rId1"/>
          <a:stretch>
            <a:fillRect/>
          </a:stretch>
        </p:blipFill>
        <p:spPr>
          <a:xfrm>
            <a:off x="6674485" y="1463040"/>
            <a:ext cx="4938395" cy="32467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10</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Timeline &amp; Review Plan</a:t>
            </a:r>
            <a:endParaRPr lang="en-US" sz="3100" dirty="0"/>
          </a:p>
        </p:txBody>
      </p:sp>
      <p:sp>
        <p:nvSpPr>
          <p:cNvPr id="4" name="Shape 2"/>
          <p:cNvSpPr/>
          <p:nvPr/>
        </p:nvSpPr>
        <p:spPr>
          <a:xfrm>
            <a:off x="1645920" y="2880360"/>
            <a:ext cx="8915400" cy="0"/>
          </a:xfrm>
          <a:prstGeom prst="line">
            <a:avLst/>
          </a:prstGeom>
          <a:noFill/>
          <a:ln w="38100">
            <a:solidFill>
              <a:srgbClr val="DDE3EC"/>
            </a:solidFill>
            <a:prstDash val="solid"/>
          </a:ln>
        </p:spPr>
        <p:txBody>
          <a:bodyPr/>
          <a:lstStyle/>
          <a:p>
            <a:endParaRPr lang="en-IN"/>
          </a:p>
        </p:txBody>
      </p:sp>
      <p:sp>
        <p:nvSpPr>
          <p:cNvPr id="5" name="Shape 3"/>
          <p:cNvSpPr/>
          <p:nvPr/>
        </p:nvSpPr>
        <p:spPr>
          <a:xfrm>
            <a:off x="1444752" y="2679192"/>
            <a:ext cx="402336" cy="402336"/>
          </a:xfrm>
          <a:prstGeom prst="ellipse">
            <a:avLst/>
          </a:prstGeom>
          <a:solidFill>
            <a:srgbClr val="A4161A"/>
          </a:solidFill>
          <a:ln w="25400">
            <a:solidFill>
              <a:srgbClr val="A4161A"/>
            </a:solidFill>
            <a:prstDash val="solid"/>
          </a:ln>
        </p:spPr>
        <p:txBody>
          <a:bodyPr/>
          <a:lstStyle/>
          <a:p>
            <a:endParaRPr lang="en-IN"/>
          </a:p>
        </p:txBody>
      </p:sp>
      <p:sp>
        <p:nvSpPr>
          <p:cNvPr id="6" name="Text 4"/>
          <p:cNvSpPr txBox="1"/>
          <p:nvPr/>
        </p:nvSpPr>
        <p:spPr>
          <a:xfrm>
            <a:off x="457200" y="2148840"/>
            <a:ext cx="2377440" cy="320040"/>
          </a:xfrm>
          <a:prstGeom prst="rect">
            <a:avLst/>
          </a:prstGeom>
          <a:noFill/>
        </p:spPr>
        <p:txBody>
          <a:bodyPr wrap="square" lIns="0" tIns="0" rIns="0" bIns="0" rtlCol="0" anchor="ctr"/>
          <a:lstStyle/>
          <a:p>
            <a:pPr marL="0" indent="0" algn="ctr">
              <a:buNone/>
            </a:pPr>
            <a:r>
              <a:rPr lang="en-US" sz="1500" b="1" dirty="0">
                <a:solidFill>
                  <a:srgbClr val="1B2A55"/>
                </a:solidFill>
                <a:latin typeface="Calibri" panose="020F0502020204030204" pitchFamily="34" charset="0"/>
                <a:ea typeface="Calibri" panose="020F0502020204030204" pitchFamily="34" charset="-122"/>
                <a:cs typeface="Calibri" panose="020F0502020204030204" pitchFamily="34" charset="-120"/>
              </a:rPr>
              <a:t>Phase 1</a:t>
            </a:r>
            <a:endParaRPr lang="en-US" sz="1500" dirty="0"/>
          </a:p>
        </p:txBody>
      </p:sp>
      <p:sp>
        <p:nvSpPr>
          <p:cNvPr id="7" name="Text 5"/>
          <p:cNvSpPr txBox="1"/>
          <p:nvPr/>
        </p:nvSpPr>
        <p:spPr>
          <a:xfrm>
            <a:off x="457200" y="3200400"/>
            <a:ext cx="2377440" cy="274320"/>
          </a:xfrm>
          <a:prstGeom prst="rect">
            <a:avLst/>
          </a:prstGeom>
          <a:noFill/>
        </p:spPr>
        <p:txBody>
          <a:bodyPr wrap="square" lIns="0" tIns="0" rIns="0" bIns="0" rtlCol="0" anchor="ctr"/>
          <a:lstStyle/>
          <a:p>
            <a:pPr marL="0" indent="0" algn="ctr">
              <a:buNone/>
            </a:pPr>
            <a:r>
              <a:rPr lang="en-US" sz="1200" b="1" kern="0" spc="120" dirty="0">
                <a:solidFill>
                  <a:srgbClr val="C8A02C"/>
                </a:solidFill>
                <a:latin typeface="Calibri" panose="020F0502020204030204" pitchFamily="34" charset="0"/>
                <a:ea typeface="Calibri" panose="020F0502020204030204" pitchFamily="34" charset="-122"/>
                <a:cs typeface="Calibri" panose="020F0502020204030204" pitchFamily="34" charset="-120"/>
              </a:rPr>
              <a:t>Planning</a:t>
            </a:r>
            <a:endParaRPr lang="en-US" sz="1200" dirty="0"/>
          </a:p>
        </p:txBody>
      </p:sp>
      <p:sp>
        <p:nvSpPr>
          <p:cNvPr id="8" name="Text 6"/>
          <p:cNvSpPr txBox="1"/>
          <p:nvPr/>
        </p:nvSpPr>
        <p:spPr>
          <a:xfrm>
            <a:off x="548640" y="3804423"/>
            <a:ext cx="2545655" cy="822960"/>
          </a:xfrm>
          <a:prstGeom prst="rect">
            <a:avLst/>
          </a:prstGeom>
          <a:noFill/>
        </p:spPr>
        <p:txBody>
          <a:bodyPr wrap="square" lIns="0" tIns="0" rIns="0" bIns="0" rtlCol="0" anchor="ctr"/>
          <a:lstStyle/>
          <a:p>
            <a:pPr marL="285750" indent="-285750">
              <a:buFont typeface="Arial" panose="020B0604020202020204" pitchFamily="34" charset="0"/>
              <a:buChar char="•"/>
            </a:pPr>
            <a:endParaRPr lang="en-US" sz="1250" dirty="0"/>
          </a:p>
          <a:p>
            <a:pPr marL="285750" indent="-285750">
              <a:buFont typeface="Arial" panose="020B0604020202020204" pitchFamily="34" charset="0"/>
              <a:buChar char="•"/>
            </a:pPr>
            <a:r>
              <a:rPr lang="en-US" sz="1250" dirty="0"/>
              <a:t>Define problem and scope
Identify learner inputs
Design course data schema
Plan UI workflow</a:t>
            </a:r>
            <a:endParaRPr lang="en-US" sz="1250" dirty="0"/>
          </a:p>
          <a:p>
            <a:pPr marL="285750" indent="-285750">
              <a:buFont typeface="Arial" panose="020B0604020202020204" pitchFamily="34" charset="0"/>
              <a:buChar char="•"/>
            </a:pPr>
          </a:p>
          <a:p>
            <a:pPr marL="285750" indent="-285750">
              <a:buFont typeface="Arial" panose="020B0604020202020204" pitchFamily="34" charset="0"/>
              <a:buChar char="•"/>
            </a:pPr>
          </a:p>
          <a:p>
            <a:pPr marL="285750" indent="-285750">
              <a:buFont typeface="Arial" panose="020B0604020202020204" pitchFamily="34" charset="0"/>
              <a:buChar char="•"/>
            </a:pPr>
          </a:p>
          <a:p>
            <a:pPr marL="285750" indent="-285750">
              <a:buFont typeface="Arial" panose="020B0604020202020204" pitchFamily="34" charset="0"/>
              <a:buChar char="•"/>
            </a:pPr>
            <a:endParaRPr lang="en-US" sz="1250" dirty="0"/>
          </a:p>
        </p:txBody>
      </p:sp>
      <p:sp>
        <p:nvSpPr>
          <p:cNvPr id="9" name="Shape 7"/>
          <p:cNvSpPr/>
          <p:nvPr/>
        </p:nvSpPr>
        <p:spPr>
          <a:xfrm>
            <a:off x="4416552" y="2679192"/>
            <a:ext cx="402336" cy="402336"/>
          </a:xfrm>
          <a:prstGeom prst="ellipse">
            <a:avLst/>
          </a:prstGeom>
          <a:solidFill>
            <a:srgbClr val="A4161A"/>
          </a:solidFill>
          <a:ln w="25400">
            <a:solidFill>
              <a:srgbClr val="A4161A"/>
            </a:solidFill>
            <a:prstDash val="solid"/>
          </a:ln>
        </p:spPr>
        <p:txBody>
          <a:bodyPr/>
          <a:lstStyle/>
          <a:p>
            <a:endParaRPr lang="en-IN"/>
          </a:p>
        </p:txBody>
      </p:sp>
      <p:sp>
        <p:nvSpPr>
          <p:cNvPr id="10" name="Text 8"/>
          <p:cNvSpPr txBox="1"/>
          <p:nvPr/>
        </p:nvSpPr>
        <p:spPr>
          <a:xfrm>
            <a:off x="3429000" y="2148840"/>
            <a:ext cx="2377440" cy="320040"/>
          </a:xfrm>
          <a:prstGeom prst="rect">
            <a:avLst/>
          </a:prstGeom>
          <a:noFill/>
        </p:spPr>
        <p:txBody>
          <a:bodyPr wrap="square" lIns="0" tIns="0" rIns="0" bIns="0" rtlCol="0" anchor="ctr"/>
          <a:lstStyle/>
          <a:p>
            <a:pPr marL="0" indent="0" algn="ctr">
              <a:buNone/>
            </a:pPr>
            <a:r>
              <a:rPr lang="en-US" sz="1500" b="1" dirty="0">
                <a:solidFill>
                  <a:srgbClr val="1B2A55"/>
                </a:solidFill>
                <a:latin typeface="Calibri" panose="020F0502020204030204" pitchFamily="34" charset="0"/>
                <a:ea typeface="Calibri" panose="020F0502020204030204" pitchFamily="34" charset="-122"/>
                <a:cs typeface="Calibri" panose="020F0502020204030204" pitchFamily="34" charset="-120"/>
              </a:rPr>
              <a:t>Phase 2</a:t>
            </a:r>
            <a:endParaRPr lang="en-US" sz="1500" dirty="0"/>
          </a:p>
        </p:txBody>
      </p:sp>
      <p:sp>
        <p:nvSpPr>
          <p:cNvPr id="11" name="Text 9"/>
          <p:cNvSpPr txBox="1"/>
          <p:nvPr/>
        </p:nvSpPr>
        <p:spPr>
          <a:xfrm>
            <a:off x="3429000" y="3200400"/>
            <a:ext cx="2377440" cy="274320"/>
          </a:xfrm>
          <a:prstGeom prst="rect">
            <a:avLst/>
          </a:prstGeom>
          <a:noFill/>
        </p:spPr>
        <p:txBody>
          <a:bodyPr wrap="square" lIns="0" tIns="0" rIns="0" bIns="0" rtlCol="0" anchor="ctr"/>
          <a:lstStyle/>
          <a:p>
            <a:pPr marL="0" indent="0" algn="ctr">
              <a:buNone/>
            </a:pPr>
            <a:r>
              <a:rPr lang="en-US" sz="1200" b="1" kern="0" spc="120" dirty="0">
                <a:solidFill>
                  <a:srgbClr val="C8A02C"/>
                </a:solidFill>
                <a:latin typeface="Calibri" panose="020F0502020204030204" pitchFamily="34" charset="0"/>
                <a:ea typeface="Calibri" panose="020F0502020204030204" pitchFamily="34" charset="-122"/>
                <a:cs typeface="Calibri" panose="020F0502020204030204" pitchFamily="34" charset="-120"/>
              </a:rPr>
              <a:t>Core Build</a:t>
            </a:r>
            <a:endParaRPr lang="en-US" sz="1200" dirty="0"/>
          </a:p>
        </p:txBody>
      </p:sp>
      <p:sp>
        <p:nvSpPr>
          <p:cNvPr id="12" name="Text 10"/>
          <p:cNvSpPr txBox="1"/>
          <p:nvPr/>
        </p:nvSpPr>
        <p:spPr>
          <a:xfrm>
            <a:off x="3291840" y="3520440"/>
            <a:ext cx="2651760" cy="822960"/>
          </a:xfrm>
          <a:prstGeom prst="rect">
            <a:avLst/>
          </a:prstGeom>
          <a:noFill/>
        </p:spPr>
        <p:txBody>
          <a:bodyPr wrap="square" lIns="0" tIns="0" rIns="0" bIns="0" rtlCol="0" anchor="ctr"/>
          <a:lstStyle/>
          <a:p>
            <a:pPr marL="285750" indent="-285750">
              <a:buFont typeface="Arial" panose="020B0604020202020204" pitchFamily="34" charset="0"/>
              <a:buChar char="•"/>
            </a:pPr>
            <a:r>
              <a:rPr lang="en-US" sz="1250" dirty="0"/>
              <a:t>Prepare course catalogue
Implement TF-IDF and similarity
Create Flask API routes</a:t>
            </a:r>
            <a:endParaRPr lang="en-US" sz="1250" dirty="0"/>
          </a:p>
          <a:p>
            <a:pPr marL="285750" indent="-285750">
              <a:buFont typeface="Arial" panose="020B0604020202020204" pitchFamily="34" charset="0"/>
              <a:buChar char="•"/>
            </a:pPr>
          </a:p>
          <a:p>
            <a:pPr marL="285750" indent="-285750">
              <a:buFont typeface="Arial" panose="020B0604020202020204" pitchFamily="34" charset="0"/>
              <a:buChar char="•"/>
            </a:pPr>
            <a:endParaRPr lang="en-US" sz="1250" dirty="0"/>
          </a:p>
        </p:txBody>
      </p:sp>
      <p:sp>
        <p:nvSpPr>
          <p:cNvPr id="13" name="Shape 11"/>
          <p:cNvSpPr/>
          <p:nvPr/>
        </p:nvSpPr>
        <p:spPr>
          <a:xfrm>
            <a:off x="7388352" y="2679192"/>
            <a:ext cx="402336" cy="402336"/>
          </a:xfrm>
          <a:prstGeom prst="ellipse">
            <a:avLst/>
          </a:prstGeom>
          <a:solidFill>
            <a:srgbClr val="FFFFFF"/>
          </a:solidFill>
          <a:ln w="25400">
            <a:solidFill>
              <a:srgbClr val="9AA5B8"/>
            </a:solidFill>
            <a:prstDash val="solid"/>
          </a:ln>
        </p:spPr>
        <p:txBody>
          <a:bodyPr/>
          <a:lstStyle/>
          <a:p>
            <a:endParaRPr lang="en-IN"/>
          </a:p>
        </p:txBody>
      </p:sp>
      <p:sp>
        <p:nvSpPr>
          <p:cNvPr id="14" name="Text 12"/>
          <p:cNvSpPr txBox="1"/>
          <p:nvPr/>
        </p:nvSpPr>
        <p:spPr>
          <a:xfrm>
            <a:off x="6400800" y="2148840"/>
            <a:ext cx="2377440" cy="320040"/>
          </a:xfrm>
          <a:prstGeom prst="rect">
            <a:avLst/>
          </a:prstGeom>
          <a:noFill/>
        </p:spPr>
        <p:txBody>
          <a:bodyPr wrap="square" lIns="0" tIns="0" rIns="0" bIns="0" rtlCol="0" anchor="ctr"/>
          <a:lstStyle/>
          <a:p>
            <a:pPr marL="0" indent="0" algn="ctr">
              <a:buNone/>
            </a:pPr>
            <a:r>
              <a:rPr lang="en-US" sz="1500" b="1" dirty="0">
                <a:solidFill>
                  <a:srgbClr val="1B2A55"/>
                </a:solidFill>
                <a:latin typeface="Calibri" panose="020F0502020204030204" pitchFamily="34" charset="0"/>
                <a:ea typeface="Calibri" panose="020F0502020204030204" pitchFamily="34" charset="-122"/>
                <a:cs typeface="Calibri" panose="020F0502020204030204" pitchFamily="34" charset="-120"/>
              </a:rPr>
              <a:t>Phase 3</a:t>
            </a:r>
            <a:endParaRPr lang="en-US" sz="1500" dirty="0"/>
          </a:p>
        </p:txBody>
      </p:sp>
      <p:sp>
        <p:nvSpPr>
          <p:cNvPr id="15" name="Text 13"/>
          <p:cNvSpPr txBox="1"/>
          <p:nvPr/>
        </p:nvSpPr>
        <p:spPr>
          <a:xfrm>
            <a:off x="6400800" y="3200400"/>
            <a:ext cx="2377440" cy="274320"/>
          </a:xfrm>
          <a:prstGeom prst="rect">
            <a:avLst/>
          </a:prstGeom>
          <a:noFill/>
        </p:spPr>
        <p:txBody>
          <a:bodyPr wrap="square" lIns="0" tIns="0" rIns="0" bIns="0" rtlCol="0" anchor="ctr"/>
          <a:lstStyle/>
          <a:p>
            <a:pPr marL="0" indent="0" algn="ctr">
              <a:buNone/>
            </a:pPr>
            <a:r>
              <a:rPr lang="en-US" sz="1200" b="1" kern="0" spc="120" dirty="0">
                <a:solidFill>
                  <a:srgbClr val="C8A02C"/>
                </a:solidFill>
                <a:latin typeface="Calibri" panose="020F0502020204030204" pitchFamily="34" charset="0"/>
                <a:ea typeface="Calibri" panose="020F0502020204030204" pitchFamily="34" charset="-122"/>
                <a:cs typeface="Calibri" panose="020F0502020204030204" pitchFamily="34" charset="-120"/>
              </a:rPr>
              <a:t>Integration</a:t>
            </a:r>
            <a:endParaRPr lang="en-US" sz="1200" dirty="0"/>
          </a:p>
        </p:txBody>
      </p:sp>
      <p:sp>
        <p:nvSpPr>
          <p:cNvPr id="16" name="Text 14"/>
          <p:cNvSpPr txBox="1"/>
          <p:nvPr/>
        </p:nvSpPr>
        <p:spPr>
          <a:xfrm>
            <a:off x="6263640" y="3520440"/>
            <a:ext cx="2651760" cy="822960"/>
          </a:xfrm>
          <a:prstGeom prst="rect">
            <a:avLst/>
          </a:prstGeom>
          <a:noFill/>
        </p:spPr>
        <p:txBody>
          <a:bodyPr wrap="square" lIns="0" tIns="0" rIns="0" bIns="0" rtlCol="0" anchor="ctr"/>
          <a:lstStyle/>
          <a:p>
            <a:pPr marL="285750" indent="-285750">
              <a:buFont typeface="Arial" panose="020B0604020202020204" pitchFamily="34" charset="0"/>
              <a:buChar char="•"/>
            </a:pPr>
            <a:r>
              <a:rPr lang="en-US" sz="1250" dirty="0">
                <a:solidFill>
                  <a:srgbClr val="1F2430"/>
                </a:solidFill>
                <a:latin typeface="Calibri" panose="020F0502020204030204" pitchFamily="34" charset="0"/>
                <a:ea typeface="Calibri" panose="020F0502020204030204" pitchFamily="34" charset="-122"/>
                <a:cs typeface="Calibri" panose="020F0502020204030204" pitchFamily="34" charset="-120"/>
              </a:rPr>
              <a:t>Connect UI with Flask APIs
Add search and prerequisites
Show scores and explanations</a:t>
            </a:r>
            <a:endParaRPr lang="en-US" sz="1250" dirty="0">
              <a:solidFill>
                <a:srgbClr val="1F2430"/>
              </a:solidFill>
              <a:latin typeface="Calibri" panose="020F0502020204030204" pitchFamily="34" charset="0"/>
              <a:ea typeface="Calibri" panose="020F0502020204030204" pitchFamily="34" charset="-122"/>
              <a:cs typeface="Calibri" panose="020F0502020204030204" pitchFamily="34" charset="-120"/>
            </a:endParaRPr>
          </a:p>
          <a:p>
            <a:pPr marL="285750" indent="-285750">
              <a:buFont typeface="Arial" panose="020B0604020202020204" pitchFamily="34" charset="0"/>
              <a:buChar char="•"/>
            </a:pPr>
          </a:p>
          <a:p>
            <a:pPr marL="285750" indent="-285750">
              <a:buFont typeface="Arial" panose="020B0604020202020204" pitchFamily="34" charset="0"/>
              <a:buChar char="•"/>
            </a:pPr>
            <a:endParaRPr lang="en-US" sz="1250" dirty="0"/>
          </a:p>
        </p:txBody>
      </p:sp>
      <p:sp>
        <p:nvSpPr>
          <p:cNvPr id="17" name="Shape 15"/>
          <p:cNvSpPr/>
          <p:nvPr/>
        </p:nvSpPr>
        <p:spPr>
          <a:xfrm>
            <a:off x="10360152" y="2679192"/>
            <a:ext cx="402336" cy="402336"/>
          </a:xfrm>
          <a:prstGeom prst="ellipse">
            <a:avLst/>
          </a:prstGeom>
          <a:solidFill>
            <a:srgbClr val="FFFFFF"/>
          </a:solidFill>
          <a:ln w="25400">
            <a:solidFill>
              <a:srgbClr val="9AA5B8"/>
            </a:solidFill>
            <a:prstDash val="solid"/>
          </a:ln>
        </p:spPr>
        <p:txBody>
          <a:bodyPr/>
          <a:lstStyle/>
          <a:p>
            <a:endParaRPr lang="en-IN"/>
          </a:p>
        </p:txBody>
      </p:sp>
      <p:sp>
        <p:nvSpPr>
          <p:cNvPr id="18" name="Text 16"/>
          <p:cNvSpPr txBox="1"/>
          <p:nvPr/>
        </p:nvSpPr>
        <p:spPr>
          <a:xfrm>
            <a:off x="9372600" y="2148840"/>
            <a:ext cx="2377440" cy="320040"/>
          </a:xfrm>
          <a:prstGeom prst="rect">
            <a:avLst/>
          </a:prstGeom>
          <a:noFill/>
        </p:spPr>
        <p:txBody>
          <a:bodyPr wrap="square" lIns="0" tIns="0" rIns="0" bIns="0" rtlCol="0" anchor="ctr"/>
          <a:lstStyle/>
          <a:p>
            <a:pPr marL="0" indent="0" algn="ctr">
              <a:buNone/>
            </a:pPr>
            <a:r>
              <a:rPr lang="en-US" sz="1500" b="1" dirty="0">
                <a:solidFill>
                  <a:srgbClr val="1B2A55"/>
                </a:solidFill>
                <a:latin typeface="Calibri" panose="020F0502020204030204" pitchFamily="34" charset="0"/>
                <a:ea typeface="Calibri" panose="020F0502020204030204" pitchFamily="34" charset="-122"/>
                <a:cs typeface="Calibri" panose="020F0502020204030204" pitchFamily="34" charset="-120"/>
              </a:rPr>
              <a:t>Final</a:t>
            </a:r>
            <a:endParaRPr lang="en-US" sz="1500" dirty="0"/>
          </a:p>
        </p:txBody>
      </p:sp>
      <p:sp>
        <p:nvSpPr>
          <p:cNvPr id="19" name="Text 17"/>
          <p:cNvSpPr txBox="1"/>
          <p:nvPr/>
        </p:nvSpPr>
        <p:spPr>
          <a:xfrm>
            <a:off x="9372600" y="3200400"/>
            <a:ext cx="2377440" cy="274320"/>
          </a:xfrm>
          <a:prstGeom prst="rect">
            <a:avLst/>
          </a:prstGeom>
          <a:noFill/>
        </p:spPr>
        <p:txBody>
          <a:bodyPr wrap="square" lIns="0" tIns="0" rIns="0" bIns="0" rtlCol="0" anchor="ctr"/>
          <a:lstStyle/>
          <a:p>
            <a:pPr marL="0" indent="0" algn="ctr">
              <a:buNone/>
            </a:pPr>
            <a:r>
              <a:rPr lang="en-US" sz="1200" b="1" kern="0" spc="120" dirty="0">
                <a:solidFill>
                  <a:srgbClr val="C8A02C"/>
                </a:solidFill>
                <a:latin typeface="Calibri" panose="020F0502020204030204" pitchFamily="34" charset="0"/>
                <a:ea typeface="Calibri" panose="020F0502020204030204" pitchFamily="34" charset="-122"/>
                <a:cs typeface="Calibri" panose="020F0502020204030204" pitchFamily="34" charset="-120"/>
              </a:rPr>
              <a:t>Validation</a:t>
            </a:r>
            <a:endParaRPr lang="en-US" sz="1200" dirty="0"/>
          </a:p>
        </p:txBody>
      </p:sp>
      <p:sp>
        <p:nvSpPr>
          <p:cNvPr id="20" name="Text 18"/>
          <p:cNvSpPr txBox="1"/>
          <p:nvPr/>
        </p:nvSpPr>
        <p:spPr>
          <a:xfrm>
            <a:off x="9235440" y="3520440"/>
            <a:ext cx="2651760" cy="822960"/>
          </a:xfrm>
          <a:prstGeom prst="rect">
            <a:avLst/>
          </a:prstGeom>
          <a:noFill/>
        </p:spPr>
        <p:txBody>
          <a:bodyPr wrap="square" lIns="0" tIns="0" rIns="0" bIns="0" rtlCol="0" anchor="ctr"/>
          <a:lstStyle/>
          <a:p>
            <a:pPr marL="285750" indent="-285750">
              <a:buFont typeface="Arial" panose="020B0604020202020204" pitchFamily="34" charset="0"/>
              <a:buChar char="•"/>
            </a:pPr>
            <a:endParaRPr lang="en-US" sz="1250" dirty="0">
              <a:solidFill>
                <a:srgbClr val="1F2430"/>
              </a:solidFill>
              <a:latin typeface="Calibri" panose="020F0502020204030204" pitchFamily="34" charset="0"/>
              <a:ea typeface="Calibri" panose="020F0502020204030204" pitchFamily="34" charset="-122"/>
              <a:cs typeface="Calibri" panose="020F0502020204030204" pitchFamily="34" charset="-120"/>
            </a:endParaRPr>
          </a:p>
          <a:p>
            <a:pPr marL="285750" indent="-285750">
              <a:buFont typeface="Arial" panose="020B0604020202020204" pitchFamily="34" charset="0"/>
              <a:buChar char="•"/>
            </a:pPr>
            <a:r>
              <a:rPr lang="en-US" sz="1250" dirty="0">
                <a:solidFill>
                  <a:srgbClr val="1F2430"/>
                </a:solidFill>
                <a:latin typeface="Calibri" panose="020F0502020204030204" pitchFamily="34" charset="0"/>
                <a:ea typeface="Calibri" panose="020F0502020204030204" pitchFamily="34" charset="-122"/>
                <a:cs typeface="Calibri" panose="020F0502020204030204" pitchFamily="34" charset="-120"/>
              </a:rPr>
              <a:t>Test common learner profiles
Check ranking and prerequisites
Measure relevance / response time
Prepare final demo and report</a:t>
            </a:r>
            <a:br>
              <a:rPr lang="en-US" sz="1250" dirty="0">
                <a:solidFill>
                  <a:srgbClr val="1F2430"/>
                </a:solidFill>
                <a:latin typeface="Calibri" panose="020F0502020204030204" pitchFamily="34" charset="0"/>
                <a:ea typeface="Calibri" panose="020F0502020204030204" pitchFamily="34" charset="-122"/>
                <a:cs typeface="Calibri" panose="020F0502020204030204" pitchFamily="34" charset="-120"/>
              </a:rPr>
            </a:br>
            <a:br>
              <a:rPr lang="en-US" sz="1250" dirty="0">
                <a:solidFill>
                  <a:srgbClr val="1F2430"/>
                </a:solidFill>
                <a:latin typeface="Calibri" panose="020F0502020204030204" pitchFamily="34" charset="0"/>
                <a:ea typeface="Calibri" panose="020F0502020204030204" pitchFamily="34" charset="-122"/>
                <a:cs typeface="Calibri" panose="020F0502020204030204" pitchFamily="34" charset="-120"/>
              </a:rPr>
            </a:br>
            <a:endParaRPr lang="en-US" sz="1250" dirty="0"/>
          </a:p>
        </p:txBody>
      </p:sp>
      <p:sp>
        <p:nvSpPr>
          <p:cNvPr id="24" name="Text 22"/>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11</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22960" y="1691640"/>
            <a:ext cx="2971800" cy="274320"/>
          </a:xfrm>
          <a:prstGeom prst="rect">
            <a:avLst/>
          </a:prstGeom>
          <a:noFill/>
        </p:spPr>
        <p:txBody>
          <a:bodyPr wrap="square" lIns="0" tIns="0" rIns="0" bIns="0" rtlCol="0" anchor="ctr"/>
          <a:lstStyle/>
          <a:p>
            <a:pPr marL="0" indent="0">
              <a:buNone/>
            </a:pPr>
            <a:r>
              <a:rPr lang="en-US" sz="1050" b="1" kern="0" spc="150" dirty="0">
                <a:solidFill>
                  <a:srgbClr val="A4161A"/>
                </a:solidFill>
                <a:latin typeface="Calibri" panose="020F0502020204030204" pitchFamily="34" charset="0"/>
                <a:ea typeface="Calibri" panose="020F0502020204030204" pitchFamily="34" charset="-122"/>
                <a:cs typeface="Calibri" panose="020F0502020204030204" pitchFamily="34" charset="-120"/>
              </a:rPr>
              <a:t>DELIVERABLE</a:t>
            </a:r>
            <a:endParaRPr lang="en-US" sz="1050" dirty="0"/>
          </a:p>
        </p:txBody>
      </p:sp>
      <p:sp>
        <p:nvSpPr>
          <p:cNvPr id="6" name="Text 4"/>
          <p:cNvSpPr txBox="1"/>
          <p:nvPr/>
        </p:nvSpPr>
        <p:spPr>
          <a:xfrm>
            <a:off x="777240" y="1828800"/>
            <a:ext cx="2971800" cy="1371600"/>
          </a:xfrm>
          <a:prstGeom prst="rect">
            <a:avLst/>
          </a:prstGeom>
          <a:noFill/>
        </p:spPr>
        <p:txBody>
          <a:bodyPr wrap="square" lIns="0" tIns="0" rIns="0" bIns="0" rtlCol="0" anchor="ctr"/>
          <a:lstStyle/>
          <a:p>
            <a:endParaRPr lang="en-IN" sz="1600" dirty="0"/>
          </a:p>
          <a:p>
            <a:r>
              <a:rPr lang="en-IN" sz="1600" dirty="0"/>
              <a:t>A browser-based course recommender with course browsing, search, learner-profile inputs and ranked recommendations with explanations.</a:t>
            </a:r>
            <a:endParaRPr lang="en-US" sz="1600" dirty="0"/>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txBody>
          <a:bodyPr/>
          <a:lstStyle/>
          <a:p>
            <a:endParaRPr lang="en-IN"/>
          </a:p>
        </p:txBody>
      </p:sp>
      <p:sp>
        <p:nvSpPr>
          <p:cNvPr id="8" name="Text 6"/>
          <p:cNvSpPr txBox="1"/>
          <p:nvPr/>
        </p:nvSpPr>
        <p:spPr>
          <a:xfrm>
            <a:off x="4572000" y="1691640"/>
            <a:ext cx="2971800" cy="274320"/>
          </a:xfrm>
          <a:prstGeom prst="rect">
            <a:avLst/>
          </a:prstGeom>
          <a:noFill/>
        </p:spPr>
        <p:txBody>
          <a:bodyPr wrap="square" lIns="0" tIns="0" rIns="0" bIns="0" rtlCol="0" anchor="ctr"/>
          <a:lstStyle/>
          <a:p>
            <a:pPr marL="0" indent="0">
              <a:buNone/>
            </a:pPr>
            <a:r>
              <a:rPr lang="en-US" sz="1050" b="1" kern="0" spc="150" dirty="0">
                <a:solidFill>
                  <a:srgbClr val="C8A02C"/>
                </a:solidFill>
                <a:latin typeface="Calibri" panose="020F0502020204030204" pitchFamily="34" charset="0"/>
                <a:ea typeface="Calibri" panose="020F0502020204030204" pitchFamily="34" charset="-122"/>
                <a:cs typeface="Calibri" panose="020F0502020204030204"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p:spPr>
        <p:txBody>
          <a:bodyPr wrap="square" lIns="0" tIns="0" rIns="0" bIns="0" rtlCol="0" anchor="ctr"/>
          <a:lstStyle/>
          <a:p>
            <a:r>
              <a:rPr lang="en-IN" sz="1600" dirty="0">
                <a:solidFill>
                  <a:schemeClr val="accent4">
                    <a:lumMod val="75000"/>
                  </a:schemeClr>
                </a:solidFill>
              </a:rPr>
              <a:t>Evaluate recommendation relevance with sample learner profiles, top-k relevance checks and response time. No benchmark result is claimed yet.</a:t>
            </a:r>
            <a:endParaRPr lang="en-US" sz="1600" dirty="0">
              <a:solidFill>
                <a:schemeClr val="accent4">
                  <a:lumMod val="75000"/>
                </a:schemeClr>
              </a:solidFill>
            </a:endParaRPr>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txBody>
          <a:bodyPr/>
          <a:lstStyle/>
          <a:p>
            <a:endParaRPr lang="en-IN"/>
          </a:p>
        </p:txBody>
      </p:sp>
      <p:sp>
        <p:nvSpPr>
          <p:cNvPr id="11" name="Text 9"/>
          <p:cNvSpPr txBox="1"/>
          <p:nvPr/>
        </p:nvSpPr>
        <p:spPr>
          <a:xfrm>
            <a:off x="8321040" y="1691640"/>
            <a:ext cx="2971800" cy="274320"/>
          </a:xfrm>
          <a:prstGeom prst="rect">
            <a:avLst/>
          </a:prstGeom>
          <a:noFill/>
        </p:spPr>
        <p:txBody>
          <a:bodyPr wrap="square" lIns="0" tIns="0" rIns="0" bIns="0" rtlCol="0" anchor="ctr"/>
          <a:lstStyle/>
          <a:p>
            <a:pPr marL="0" indent="0">
              <a:buNone/>
            </a:pPr>
            <a:r>
              <a:rPr lang="en-US" sz="1050" b="1" kern="0" spc="150" dirty="0">
                <a:solidFill>
                  <a:srgbClr val="A4161A"/>
                </a:solidFill>
                <a:latin typeface="Calibri" panose="020F0502020204030204" pitchFamily="34" charset="0"/>
                <a:ea typeface="Calibri" panose="020F0502020204030204" pitchFamily="34" charset="-122"/>
                <a:cs typeface="Calibri" panose="020F0502020204030204" pitchFamily="34" charset="-120"/>
              </a:rPr>
              <a:t>BEYOND THE LAB</a:t>
            </a:r>
            <a:endParaRPr lang="en-US" sz="1050" dirty="0"/>
          </a:p>
        </p:txBody>
      </p:sp>
      <p:sp>
        <p:nvSpPr>
          <p:cNvPr id="12" name="Text 10"/>
          <p:cNvSpPr txBox="1"/>
          <p:nvPr/>
        </p:nvSpPr>
        <p:spPr>
          <a:xfrm>
            <a:off x="8321040" y="2057400"/>
            <a:ext cx="2971800" cy="1371600"/>
          </a:xfrm>
          <a:prstGeom prst="rect">
            <a:avLst/>
          </a:prstGeom>
          <a:noFill/>
        </p:spPr>
        <p:txBody>
          <a:bodyPr wrap="square" lIns="0" tIns="0" rIns="0" bIns="0" rtlCol="0" anchor="ctr"/>
          <a:lstStyle/>
          <a:p>
            <a:r>
              <a:rPr lang="en-IN" sz="1600" dirty="0"/>
              <a:t>Can help students plan what to learn next and explore courses aligned with skills, interests and prerequisites.</a:t>
            </a:r>
            <a:endParaRPr lang="en-US" sz="1600" dirty="0"/>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txBody>
          <a:bodyPr/>
          <a:lstStyle/>
          <a:p>
            <a:endParaRPr lang="en-IN"/>
          </a:p>
        </p:txBody>
      </p:sp>
      <p:sp>
        <p:nvSpPr>
          <p:cNvPr id="14" name="Text 12"/>
          <p:cNvSpPr txBox="1"/>
          <p:nvPr/>
        </p:nvSpPr>
        <p:spPr>
          <a:xfrm>
            <a:off x="868680" y="4160520"/>
            <a:ext cx="10424160" cy="274320"/>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CONCLUSION</a:t>
            </a:r>
            <a:endParaRPr lang="en-US" sz="1050" dirty="0"/>
          </a:p>
        </p:txBody>
      </p:sp>
      <p:sp>
        <p:nvSpPr>
          <p:cNvPr id="15" name="Text 13"/>
          <p:cNvSpPr txBox="1"/>
          <p:nvPr/>
        </p:nvSpPr>
        <p:spPr>
          <a:xfrm>
            <a:off x="868680" y="4480560"/>
            <a:ext cx="10424160" cy="1188720"/>
          </a:xfrm>
          <a:prstGeom prst="rect">
            <a:avLst/>
          </a:prstGeom>
          <a:noFill/>
        </p:spPr>
        <p:txBody>
          <a:bodyPr wrap="square" lIns="0" tIns="0" rIns="0" bIns="0" rtlCol="0" anchor="ctr"/>
          <a:lstStyle/>
          <a:p>
            <a:r>
              <a:rPr lang="en-IN" sz="1600" dirty="0"/>
              <a:t>The Online Course Recommendation System helps learners navigate a course catalogue by matching their interests, skills and completed subjects to course content. TF-IDF and cosine similarity provide transparent content-based ranking, while the Flask web interface supports browsing, searching and prerequisite awareness. Future scope: integrate a verified Coursera/Udemy dataset, improve semantic matching and conduct a formal recommendation-quality evaluation.</a:t>
            </a:r>
            <a:br>
              <a:rPr lang="en-IN" sz="1600" dirty="0"/>
            </a:br>
            <a:endParaRPr lang="en-US" sz="1450" dirty="0"/>
          </a:p>
        </p:txBody>
      </p:sp>
      <p:sp>
        <p:nvSpPr>
          <p:cNvPr id="16" name="Text 14"/>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p:spPr>
        <p:txBody>
          <a:bodyPr wrap="square" lIns="0" tIns="0" rIns="0" bIns="0" rtlCol="0" anchor="ctr"/>
          <a:lstStyle/>
          <a:p>
            <a:pPr marL="0" indent="0">
              <a:buNone/>
            </a:pPr>
            <a:r>
              <a:rPr lang="en-US" sz="1050" b="1" kern="0" spc="200" dirty="0">
                <a:solidFill>
                  <a:srgbClr val="C8A02C"/>
                </a:solidFill>
                <a:latin typeface="Calibri" panose="020F0502020204030204" pitchFamily="34" charset="0"/>
                <a:ea typeface="Calibri" panose="020F0502020204030204" pitchFamily="34" charset="-122"/>
                <a:cs typeface="Calibri" panose="020F0502020204030204" pitchFamily="34" charset="-120"/>
              </a:rPr>
              <a:t>SECTION 12</a:t>
            </a:r>
            <a:endParaRPr lang="en-US" sz="1050" dirty="0"/>
          </a:p>
        </p:txBody>
      </p:sp>
      <p:sp>
        <p:nvSpPr>
          <p:cNvPr id="3" name="Text 1"/>
          <p:cNvSpPr txBox="1"/>
          <p:nvPr/>
        </p:nvSpPr>
        <p:spPr>
          <a:xfrm>
            <a:off x="548640" y="603504"/>
            <a:ext cx="11064240" cy="566928"/>
          </a:xfrm>
          <a:prstGeom prst="rect">
            <a:avLst/>
          </a:prstGeom>
          <a:noFill/>
        </p:spPr>
        <p:txBody>
          <a:bodyPr wrap="square" lIns="0" tIns="0" rIns="0" bIns="0" rtlCol="0" anchor="ctr"/>
          <a:lstStyle/>
          <a:p>
            <a:pPr marL="0" indent="0">
              <a:buNone/>
            </a:pPr>
            <a:r>
              <a:rPr lang="en-US" sz="3100" b="1" dirty="0">
                <a:solidFill>
                  <a:srgbClr val="1B2A55"/>
                </a:solidFill>
                <a:latin typeface="Cambria" panose="02040503050406030204" pitchFamily="34" charset="0"/>
                <a:ea typeface="Cambria" panose="02040503050406030204" pitchFamily="34" charset="-122"/>
                <a:cs typeface="Cambria" panose="02040503050406030204" pitchFamily="34" charset="-120"/>
              </a:rPr>
              <a:t>References</a:t>
            </a:r>
            <a:endParaRPr lang="en-US" sz="3100" dirty="0"/>
          </a:p>
        </p:txBody>
      </p:sp>
      <p:sp>
        <p:nvSpPr>
          <p:cNvPr id="5" name="Shape 3"/>
          <p:cNvSpPr/>
          <p:nvPr/>
        </p:nvSpPr>
        <p:spPr>
          <a:xfrm>
            <a:off x="548640" y="1572768"/>
            <a:ext cx="11064240" cy="3657600"/>
          </a:xfrm>
          <a:prstGeom prst="roundRect">
            <a:avLst>
              <a:gd name="adj" fmla="val 2000"/>
            </a:avLst>
          </a:prstGeom>
          <a:solidFill>
            <a:srgbClr val="F1F4F9"/>
          </a:solidFill>
          <a:ln w="12700">
            <a:solidFill>
              <a:srgbClr val="DDE3EC"/>
            </a:solidFill>
            <a:prstDash val="solid"/>
          </a:ln>
        </p:spPr>
        <p:txBody>
          <a:bodyPr/>
          <a:lstStyle/>
          <a:p>
            <a:endParaRPr lang="en-IN"/>
          </a:p>
        </p:txBody>
      </p:sp>
      <p:sp>
        <p:nvSpPr>
          <p:cNvPr id="6" name="Text 4"/>
          <p:cNvSpPr txBox="1"/>
          <p:nvPr/>
        </p:nvSpPr>
        <p:spPr>
          <a:xfrm>
            <a:off x="868680" y="1805940"/>
            <a:ext cx="10424160" cy="3246120"/>
          </a:xfrm>
          <a:prstGeom prst="rect">
            <a:avLst/>
          </a:prstGeom>
          <a:noFill/>
        </p:spPr>
        <p:txBody>
          <a:bodyPr wrap="square" lIns="0" tIns="0" rIns="0" bIns="0" rtlCol="0" anchor="ctr"/>
          <a:lstStyle/>
          <a:p>
            <a:endParaRPr lang="en-IN" sz="1400" b="1" dirty="0"/>
          </a:p>
          <a:p>
            <a:endParaRPr lang="en-IN" sz="1400" b="1" dirty="0"/>
          </a:p>
          <a:p>
            <a:endParaRPr lang="en-IN" sz="1400" b="1" dirty="0"/>
          </a:p>
          <a:p>
            <a:endParaRPr lang="en-IN" sz="1400" b="1" dirty="0"/>
          </a:p>
          <a:p>
            <a:endParaRPr lang="en-IN" sz="1400" b="1" dirty="0"/>
          </a:p>
          <a:p>
            <a:r>
              <a:rPr lang="en-IN" sz="1400" b="1" dirty="0"/>
              <a:t>[1] M. J. Pazzani and D. Billsus, “Content-Based Recommendation Systems,” in The Adaptive Web, Springer, 2007, pp. 325–341.
[2] G. Salton and C. Buckley, “Term-weighting approaches in automatic text retrieval,” Information Processing &amp; Management, vol. 24, no. 5, pp. 513–523, 1988.
[3] C. D. Manning, P. Raghavan and H. Schütze, Introduction to Information Retrieval. Cambridge University Press, 2008.
[4] F. Ricci, L. Rokach and B. Shapira, eds., Recommender Systems Handbook, 3rd ed., Springer, 2022.
[5] Project source code: CourseRecommendationDSA/app.py, courses.json, templates/index.html and static/script.js (provided project files).</a:t>
            </a:r>
            <a:br>
              <a:rPr lang="en-IN" sz="1400" dirty="0"/>
            </a:br>
            <a:endParaRPr lang="en-IN" sz="1400" dirty="0"/>
          </a:p>
          <a:p>
            <a:br>
              <a:rPr lang="en-IN" sz="1400" dirty="0"/>
            </a:br>
            <a:endParaRPr lang="en-IN" sz="1400" dirty="0"/>
          </a:p>
          <a:p>
            <a:br>
              <a:rPr lang="en-IN" sz="1400" dirty="0"/>
            </a:br>
            <a:endParaRPr lang="en-IN" sz="1400" dirty="0"/>
          </a:p>
          <a:p>
            <a:br>
              <a:rPr lang="en-IN" sz="1400" dirty="0"/>
            </a:br>
            <a:endParaRPr lang="en-IN" sz="1400" dirty="0"/>
          </a:p>
          <a:p>
            <a:br>
              <a:rPr lang="en-IN" sz="1400" dirty="0"/>
            </a:br>
            <a:endParaRPr lang="en-IN" sz="1400" dirty="0"/>
          </a:p>
        </p:txBody>
      </p:sp>
      <p:sp>
        <p:nvSpPr>
          <p:cNvPr id="8" name="Text 6"/>
          <p:cNvSpPr txBox="1"/>
          <p:nvPr/>
        </p:nvSpPr>
        <p:spPr>
          <a:xfrm>
            <a:off x="548640" y="6355080"/>
            <a:ext cx="6400800" cy="274320"/>
          </a:xfrm>
          <a:prstGeom prst="rect">
            <a:avLst/>
          </a:prstGeom>
          <a:noFill/>
        </p:spPr>
        <p:txBody>
          <a:bodyPr wrap="square" lIns="0" tIns="0" rIns="0" bIns="0" rtlCol="0" anchor="ctr"/>
          <a:lstStyle/>
          <a:p>
            <a:pPr marL="0" indent="0">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p:spPr>
        <p:txBody>
          <a:bodyPr wrap="square" lIns="0" tIns="0" rIns="0" bIns="0" rtlCol="0" anchor="ctr"/>
          <a:lstStyle/>
          <a:p>
            <a:pPr marL="0" indent="0" algn="r">
              <a:buNone/>
            </a:pPr>
            <a:r>
              <a:rPr lang="en-US" sz="950" dirty="0">
                <a:solidFill>
                  <a:srgbClr val="6B7280"/>
                </a:solidFill>
                <a:latin typeface="Calibri" panose="020F0502020204030204" pitchFamily="34" charset="0"/>
                <a:ea typeface="Calibri" panose="020F0502020204030204" pitchFamily="34" charset="-122"/>
                <a:cs typeface="Calibri" panose="020F0502020204030204"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p:spPr>
        <p:txBody>
          <a:bodyPr wrap="square" lIns="0" tIns="0" rIns="0" bIns="0" rtlCol="0" anchor="ctr"/>
          <a:lstStyle/>
          <a:p>
            <a:pPr marL="0" indent="0">
              <a:buNone/>
            </a:pPr>
            <a:r>
              <a:rPr lang="en-US" sz="5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5200" dirty="0"/>
          </a:p>
        </p:txBody>
      </p:sp>
      <p:sp>
        <p:nvSpPr>
          <p:cNvPr id="4" name="Shape 2"/>
          <p:cNvSpPr/>
          <p:nvPr/>
        </p:nvSpPr>
        <p:spPr>
          <a:xfrm>
            <a:off x="822960" y="3977640"/>
            <a:ext cx="2926080" cy="0"/>
          </a:xfrm>
          <a:prstGeom prst="line">
            <a:avLst/>
          </a:prstGeom>
          <a:noFill/>
          <a:ln w="25400">
            <a:solidFill>
              <a:srgbClr val="2E3F6E"/>
            </a:solidFill>
            <a:prstDash val="solid"/>
          </a:ln>
        </p:spPr>
        <p:txBody>
          <a:bodyPr/>
          <a:lstStyle/>
          <a:p>
            <a:endParaRPr lang="en-IN"/>
          </a:p>
        </p:txBody>
      </p:sp>
      <p:sp>
        <p:nvSpPr>
          <p:cNvPr id="5" name="Text 3"/>
          <p:cNvSpPr txBox="1"/>
          <p:nvPr/>
        </p:nvSpPr>
        <p:spPr>
          <a:xfrm>
            <a:off x="822960" y="4251960"/>
            <a:ext cx="10515600" cy="365760"/>
          </a:xfrm>
          <a:prstGeom prst="rect">
            <a:avLst/>
          </a:prstGeom>
          <a:noFill/>
        </p:spPr>
        <p:txBody>
          <a:bodyPr wrap="square" lIns="0" tIns="0" rIns="0" bIns="0" rtlCol="0" anchor="ctr"/>
          <a:lstStyle/>
          <a:p>
            <a:pPr marL="0" indent="0">
              <a:buNone/>
            </a:pPr>
            <a:r>
              <a:rPr lang="en-US" sz="1400" dirty="0">
                <a:solidFill>
                  <a:srgbClr val="AEBBD6"/>
                </a:solidFill>
                <a:latin typeface="Calibri" panose="020F0502020204030204" pitchFamily="34" charset="0"/>
                <a:ea typeface="Calibri" panose="020F0502020204030204" pitchFamily="34" charset="-122"/>
                <a:cs typeface="Calibri" panose="020F0502020204030204" pitchFamily="34" charset="-120"/>
              </a:rPr>
              <a:t>Team: 27   |   Guide:</a:t>
            </a:r>
            <a:r>
              <a:rPr lang="en-US" sz="1400" dirty="0">
                <a:solidFill>
                  <a:schemeClr val="bg1"/>
                </a:solidFill>
                <a:sym typeface="+mn-ea"/>
              </a:rPr>
              <a:t>Dr.Raghavendra</a:t>
            </a:r>
            <a:r>
              <a:rPr lang="en-US" sz="1400" dirty="0">
                <a:solidFill>
                  <a:srgbClr val="AEBBD6"/>
                </a:solidFill>
                <a:latin typeface="Calibri" panose="020F0502020204030204" pitchFamily="34" charset="0"/>
                <a:ea typeface="Calibri" panose="020F0502020204030204" pitchFamily="34" charset="-122"/>
                <a:cs typeface="Calibri" panose="020F0502020204030204" pitchFamily="34" charset="-120"/>
              </a:rPr>
              <a:t> |   Dept. of CSE, KLH Bachupally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9874</Words>
  <Application>WPS Presentation</Application>
  <PresentationFormat>Widescreen</PresentationFormat>
  <Paragraphs>450</Paragraphs>
  <Slides>15</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Calibri</vt:lpstr>
      <vt:lpstr>Calibri</vt:lpstr>
      <vt:lpstr>Calibri</vt:lpstr>
      <vt:lpstr>Cambria</vt:lpstr>
      <vt:lpstr>Cambria</vt:lpstr>
      <vt:lpstr>Cambria</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Course Recommendation System - Minor Project Review</dc:title>
  <dc:creator>likki</dc:creator>
  <cp:keywords>course recommendation, TF-IDF, cosine similarity, Flask, content-based filtering</cp:keywords>
  <dc:subject>Content-based course recommendation using TF-IDF and cosine similarity</dc:subject>
  <cp:lastModifiedBy>TALLURI AKILESH</cp:lastModifiedBy>
  <cp:revision>11</cp:revision>
  <dcterms:created xsi:type="dcterms:W3CDTF">2026-09-16T05:47:00Z</dcterms:created>
  <dcterms:modified xsi:type="dcterms:W3CDTF">2026-10-13T04:27:44Z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E5ECE929174C4AC58A7B05D13D52ADF4_12</vt:lpwstr>
  </property>
</Properties>
</file>